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92" r:id="rId3"/>
    <p:sldId id="293" r:id="rId4"/>
    <p:sldId id="279" r:id="rId5"/>
    <p:sldId id="277" r:id="rId6"/>
    <p:sldId id="280" r:id="rId7"/>
    <p:sldId id="286" r:id="rId8"/>
    <p:sldId id="29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39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960" autoAdjust="0"/>
  </p:normalViewPr>
  <p:slideViewPr>
    <p:cSldViewPr snapToGrid="0">
      <p:cViewPr>
        <p:scale>
          <a:sx n="90" d="100"/>
          <a:sy n="90" d="100"/>
        </p:scale>
        <p:origin x="35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48D30F-3A34-440B-93DE-3614152E6787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1700B8-3704-4397-AA08-D8F3F2F1CE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695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700B8-3704-4397-AA08-D8F3F2F1CEA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12745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1700B8-3704-4397-AA08-D8F3F2F1CEAF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7001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327B-F16A-4108-B139-69B4139395D7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B077B-80C4-444F-A8B5-B067004428A1}" type="slidenum">
              <a:rPr lang="de-DE" smtClean="0"/>
              <a:t>‹Nr.›</a:t>
            </a:fld>
            <a:endParaRPr lang="de-D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215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327B-F16A-4108-B139-69B4139395D7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B077B-80C4-444F-A8B5-B067004428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7890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327B-F16A-4108-B139-69B4139395D7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B077B-80C4-444F-A8B5-B067004428A1}" type="slidenum">
              <a:rPr lang="de-DE" smtClean="0"/>
              <a:t>‹Nr.›</a:t>
            </a:fld>
            <a:endParaRPr lang="de-D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923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327B-F16A-4108-B139-69B4139395D7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B077B-80C4-444F-A8B5-B067004428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5856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327B-F16A-4108-B139-69B4139395D7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B077B-80C4-444F-A8B5-B067004428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8964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327B-F16A-4108-B139-69B4139395D7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B077B-80C4-444F-A8B5-B067004428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6448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327B-F16A-4108-B139-69B4139395D7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B077B-80C4-444F-A8B5-B067004428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4885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427327B-F16A-4108-B139-69B4139395D7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F6B077B-80C4-444F-A8B5-B067004428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2152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327B-F16A-4108-B139-69B4139395D7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B077B-80C4-444F-A8B5-B067004428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8880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327B-F16A-4108-B139-69B4139395D7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B077B-80C4-444F-A8B5-B067004428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5386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7327B-F16A-4108-B139-69B4139395D7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B077B-80C4-444F-A8B5-B067004428A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3163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427327B-F16A-4108-B139-69B4139395D7}" type="datetimeFigureOut">
              <a:rPr lang="de-DE" smtClean="0"/>
              <a:t>03.02.2026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F6B077B-80C4-444F-A8B5-B067004428A1}" type="slidenum">
              <a:rPr lang="de-DE" smtClean="0"/>
              <a:t>‹Nr.›</a:t>
            </a:fld>
            <a:endParaRPr lang="de-D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452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4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B4BBA4-66DD-4DF8-C323-7E26B8603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496485"/>
            <a:ext cx="10058400" cy="3566160"/>
          </a:xfrm>
        </p:spPr>
        <p:txBody>
          <a:bodyPr>
            <a:normAutofit/>
          </a:bodyPr>
          <a:lstStyle/>
          <a:p>
            <a:r>
              <a:rPr lang="de-DE" sz="6000" dirty="0"/>
              <a:t>Quantensensor Signal Analyse Pipeline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36E1F7-6660-55EF-7DA0-E819FA9342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Simulationsgestützte Analyse von Magnetometer Signalen inklusive Rausch-, drift- und Spike-Detektion</a:t>
            </a:r>
          </a:p>
        </p:txBody>
      </p:sp>
    </p:spTree>
    <p:extLst>
      <p:ext uri="{BB962C8B-B14F-4D97-AF65-F5344CB8AC3E}">
        <p14:creationId xmlns:p14="http://schemas.microsoft.com/office/powerpoint/2010/main" val="4021909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ABC135D5-61E6-C998-1A99-82D495D23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36" y="1338905"/>
            <a:ext cx="7336975" cy="4104496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B3E59FEB-B242-534F-5BF3-AFDEB110B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310" y="211667"/>
            <a:ext cx="3608475" cy="2320633"/>
          </a:xfrm>
          <a:prstGeom prst="rect">
            <a:avLst/>
          </a:prstGeom>
        </p:spPr>
      </p:pic>
      <p:sp>
        <p:nvSpPr>
          <p:cNvPr id="2" name="Titel 2">
            <a:extLst>
              <a:ext uri="{FF2B5EF4-FFF2-40B4-BE49-F238E27FC236}">
                <a16:creationId xmlns:a16="http://schemas.microsoft.com/office/drawing/2014/main" id="{4A988C66-5DB8-39C7-4C9C-BBE8E615D109}"/>
              </a:ext>
            </a:extLst>
          </p:cNvPr>
          <p:cNvSpPr txBox="1">
            <a:spLocks/>
          </p:cNvSpPr>
          <p:nvPr/>
        </p:nvSpPr>
        <p:spPr>
          <a:xfrm>
            <a:off x="271336" y="289049"/>
            <a:ext cx="7285308" cy="38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Funktionsprinzip des Quantensensors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4A800F1-423F-2A2C-A907-26748696897A}"/>
              </a:ext>
            </a:extLst>
          </p:cNvPr>
          <p:cNvSpPr txBox="1"/>
          <p:nvPr/>
        </p:nvSpPr>
        <p:spPr>
          <a:xfrm>
            <a:off x="1280857" y="5697415"/>
            <a:ext cx="47304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dirty="0"/>
              <a:t>NV-Zentrum basierter Quantensensor (ODMR-Prinzip)</a:t>
            </a:r>
          </a:p>
        </p:txBody>
      </p:sp>
    </p:spTree>
    <p:extLst>
      <p:ext uri="{BB962C8B-B14F-4D97-AF65-F5344CB8AC3E}">
        <p14:creationId xmlns:p14="http://schemas.microsoft.com/office/powerpoint/2010/main" val="1561705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2">
            <a:extLst>
              <a:ext uri="{FF2B5EF4-FFF2-40B4-BE49-F238E27FC236}">
                <a16:creationId xmlns:a16="http://schemas.microsoft.com/office/drawing/2014/main" id="{C08B0C85-579A-8998-9B15-4FE83B48366E}"/>
              </a:ext>
            </a:extLst>
          </p:cNvPr>
          <p:cNvSpPr txBox="1">
            <a:spLocks/>
          </p:cNvSpPr>
          <p:nvPr/>
        </p:nvSpPr>
        <p:spPr>
          <a:xfrm>
            <a:off x="271336" y="289049"/>
            <a:ext cx="10558800" cy="38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Architekturdiagramm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584F65F0-282D-23D6-1C0E-F74EF168BEA2}"/>
              </a:ext>
            </a:extLst>
          </p:cNvPr>
          <p:cNvSpPr/>
          <p:nvPr/>
        </p:nvSpPr>
        <p:spPr>
          <a:xfrm>
            <a:off x="982133" y="973664"/>
            <a:ext cx="1872826" cy="49106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>
                <a:solidFill>
                  <a:schemeClr val="tx1"/>
                </a:solidFill>
              </a:rPr>
              <a:t>Signal Simulation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4C7FD6FE-F0E6-91BC-925E-2F2ED37AE313}"/>
              </a:ext>
            </a:extLst>
          </p:cNvPr>
          <p:cNvSpPr/>
          <p:nvPr/>
        </p:nvSpPr>
        <p:spPr>
          <a:xfrm>
            <a:off x="982133" y="1676401"/>
            <a:ext cx="1872826" cy="660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 err="1">
                <a:solidFill>
                  <a:schemeClr val="tx1"/>
                </a:solidFill>
              </a:rPr>
              <a:t>Preprocessing</a:t>
            </a:r>
            <a:endParaRPr lang="de-DE" sz="12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 err="1">
                <a:solidFill>
                  <a:schemeClr val="tx1"/>
                </a:solidFill>
              </a:rPr>
              <a:t>Detrend</a:t>
            </a:r>
            <a:endParaRPr lang="de-DE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 err="1">
                <a:solidFill>
                  <a:schemeClr val="tx1"/>
                </a:solidFill>
              </a:rPr>
              <a:t>Lowpass</a:t>
            </a:r>
            <a:r>
              <a:rPr lang="de-DE" sz="1200" dirty="0">
                <a:solidFill>
                  <a:schemeClr val="tx1"/>
                </a:solidFill>
              </a:rPr>
              <a:t> Filter</a:t>
            </a:r>
          </a:p>
        </p:txBody>
      </p:sp>
      <p:sp>
        <p:nvSpPr>
          <p:cNvPr id="7" name="Rechteck: abgerundete Ecken 6">
            <a:extLst>
              <a:ext uri="{FF2B5EF4-FFF2-40B4-BE49-F238E27FC236}">
                <a16:creationId xmlns:a16="http://schemas.microsoft.com/office/drawing/2014/main" id="{78102A81-F766-BFB3-468D-EBCEF8D18F23}"/>
              </a:ext>
            </a:extLst>
          </p:cNvPr>
          <p:cNvSpPr/>
          <p:nvPr/>
        </p:nvSpPr>
        <p:spPr>
          <a:xfrm>
            <a:off x="982133" y="2548467"/>
            <a:ext cx="1872826" cy="9397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>
                <a:solidFill>
                  <a:schemeClr val="tx1"/>
                </a:solidFill>
              </a:rPr>
              <a:t>KPI </a:t>
            </a:r>
            <a:r>
              <a:rPr lang="de-DE" sz="1200" b="1" dirty="0" err="1">
                <a:solidFill>
                  <a:schemeClr val="tx1"/>
                </a:solidFill>
              </a:rPr>
              <a:t>Extraction</a:t>
            </a:r>
            <a:endParaRPr lang="de-DE" sz="12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tx1"/>
                </a:solidFill>
              </a:rPr>
              <a:t>Noise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tx1"/>
                </a:solidFill>
              </a:rPr>
              <a:t>Peak-</a:t>
            </a:r>
            <a:r>
              <a:rPr lang="de-DE" sz="1200" dirty="0" err="1">
                <a:solidFill>
                  <a:schemeClr val="tx1"/>
                </a:solidFill>
              </a:rPr>
              <a:t>to</a:t>
            </a:r>
            <a:r>
              <a:rPr lang="de-DE" sz="1200" dirty="0">
                <a:solidFill>
                  <a:schemeClr val="tx1"/>
                </a:solidFill>
              </a:rPr>
              <a:t>-Peak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tx1"/>
                </a:solidFill>
              </a:rPr>
              <a:t>Drift Rate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tx1"/>
                </a:solidFill>
              </a:rPr>
              <a:t>SNR Proxy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B3BDA5C-4848-8EFF-05E5-0AD7768C0DFC}"/>
              </a:ext>
            </a:extLst>
          </p:cNvPr>
          <p:cNvSpPr/>
          <p:nvPr/>
        </p:nvSpPr>
        <p:spPr>
          <a:xfrm>
            <a:off x="982133" y="3699932"/>
            <a:ext cx="1872826" cy="6604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>
                <a:solidFill>
                  <a:schemeClr val="tx1"/>
                </a:solidFill>
              </a:rPr>
              <a:t>Fault </a:t>
            </a:r>
            <a:r>
              <a:rPr lang="de-DE" sz="1200" b="1" dirty="0" err="1">
                <a:solidFill>
                  <a:schemeClr val="tx1"/>
                </a:solidFill>
              </a:rPr>
              <a:t>Detection</a:t>
            </a:r>
            <a:endParaRPr lang="de-DE" sz="12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tx1"/>
                </a:solidFill>
              </a:rPr>
              <a:t>Rolling Z-Score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tx1"/>
                </a:solidFill>
              </a:rPr>
              <a:t>Spike Segments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E1A0ED56-FA70-99A2-C6E5-7F1AE7147487}"/>
              </a:ext>
            </a:extLst>
          </p:cNvPr>
          <p:cNvSpPr/>
          <p:nvPr/>
        </p:nvSpPr>
        <p:spPr>
          <a:xfrm>
            <a:off x="982133" y="4571998"/>
            <a:ext cx="1872826" cy="49106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 err="1">
                <a:solidFill>
                  <a:schemeClr val="tx1"/>
                </a:solidFill>
              </a:rPr>
              <a:t>Decision</a:t>
            </a:r>
            <a:r>
              <a:rPr lang="de-DE" sz="1200" b="1" dirty="0">
                <a:solidFill>
                  <a:schemeClr val="tx1"/>
                </a:solidFill>
              </a:rPr>
              <a:t> Layer</a:t>
            </a:r>
          </a:p>
          <a:p>
            <a:pPr algn="ctr"/>
            <a:r>
              <a:rPr lang="de-DE" sz="1200" dirty="0" err="1">
                <a:solidFill>
                  <a:schemeClr val="tx1"/>
                </a:solidFill>
              </a:rPr>
              <a:t>good</a:t>
            </a:r>
            <a:r>
              <a:rPr lang="de-DE" sz="1200" dirty="0">
                <a:solidFill>
                  <a:schemeClr val="tx1"/>
                </a:solidFill>
              </a:rPr>
              <a:t>/</a:t>
            </a:r>
            <a:r>
              <a:rPr lang="de-DE" sz="1200" dirty="0" err="1">
                <a:solidFill>
                  <a:schemeClr val="tx1"/>
                </a:solidFill>
              </a:rPr>
              <a:t>noisy</a:t>
            </a:r>
            <a:r>
              <a:rPr lang="de-DE" sz="1200" dirty="0">
                <a:solidFill>
                  <a:schemeClr val="tx1"/>
                </a:solidFill>
              </a:rPr>
              <a:t>/fault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2C0F6D5A-CADF-5C28-6576-888D03DF8BCD}"/>
              </a:ext>
            </a:extLst>
          </p:cNvPr>
          <p:cNvSpPr/>
          <p:nvPr/>
        </p:nvSpPr>
        <p:spPr>
          <a:xfrm>
            <a:off x="982132" y="5274733"/>
            <a:ext cx="1872827" cy="9397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b="1" dirty="0">
                <a:solidFill>
                  <a:schemeClr val="tx1"/>
                </a:solidFill>
              </a:rPr>
              <a:t>Outputs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tx1"/>
                </a:solidFill>
              </a:rPr>
              <a:t>Processed.csv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 err="1">
                <a:solidFill>
                  <a:schemeClr val="tx1"/>
                </a:solidFill>
              </a:rPr>
              <a:t>kpi.json</a:t>
            </a:r>
            <a:endParaRPr lang="de-DE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 err="1">
                <a:solidFill>
                  <a:schemeClr val="tx1"/>
                </a:solidFill>
              </a:rPr>
              <a:t>fault.json</a:t>
            </a:r>
            <a:endParaRPr lang="de-DE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sz="1200" dirty="0">
                <a:solidFill>
                  <a:schemeClr val="tx1"/>
                </a:solidFill>
              </a:rPr>
              <a:t>Plots (</a:t>
            </a:r>
            <a:r>
              <a:rPr lang="de-DE" sz="1200" dirty="0" err="1">
                <a:solidFill>
                  <a:schemeClr val="tx1"/>
                </a:solidFill>
              </a:rPr>
              <a:t>overview</a:t>
            </a:r>
            <a:r>
              <a:rPr lang="de-DE" sz="1200" dirty="0">
                <a:solidFill>
                  <a:schemeClr val="tx1"/>
                </a:solidFill>
              </a:rPr>
              <a:t>, zoom)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7C671DCA-3989-EFE0-F639-9FEDA62A4671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1918546" y="1464733"/>
            <a:ext cx="0" cy="211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67219715-E868-CA8D-D463-47BE4511EB4C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918546" y="2336801"/>
            <a:ext cx="0" cy="211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 Verbindung mit Pfeil 16">
            <a:extLst>
              <a:ext uri="{FF2B5EF4-FFF2-40B4-BE49-F238E27FC236}">
                <a16:creationId xmlns:a16="http://schemas.microsoft.com/office/drawing/2014/main" id="{748C6630-5C24-EB69-DF1F-9A34224BB7B8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1918546" y="3488266"/>
            <a:ext cx="0" cy="211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>
            <a:extLst>
              <a:ext uri="{FF2B5EF4-FFF2-40B4-BE49-F238E27FC236}">
                <a16:creationId xmlns:a16="http://schemas.microsoft.com/office/drawing/2014/main" id="{1DB0A269-C241-AD4F-ED71-A43F62DBF2F8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918546" y="4360332"/>
            <a:ext cx="0" cy="211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3629B4DE-271C-E5EF-062B-6240748F89E8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1918546" y="5063067"/>
            <a:ext cx="0" cy="211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337EE3A2-87A4-8A0C-107E-2750E3593FD9}"/>
              </a:ext>
            </a:extLst>
          </p:cNvPr>
          <p:cNvSpPr txBox="1"/>
          <p:nvPr/>
        </p:nvSpPr>
        <p:spPr>
          <a:xfrm>
            <a:off x="1918545" y="1439790"/>
            <a:ext cx="10310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err="1">
                <a:solidFill>
                  <a:schemeClr val="bg1">
                    <a:lumMod val="65000"/>
                  </a:schemeClr>
                </a:solidFill>
              </a:rPr>
              <a:t>csv</a:t>
            </a:r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 (time, </a:t>
            </a:r>
            <a:r>
              <a:rPr lang="de-DE" sz="800" dirty="0" err="1">
                <a:solidFill>
                  <a:schemeClr val="bg1">
                    <a:lumMod val="65000"/>
                  </a:schemeClr>
                </a:solidFill>
              </a:rPr>
              <a:t>B_field_T</a:t>
            </a:r>
            <a:r>
              <a:rPr lang="de-DE" sz="800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153321B-E3CF-B0BC-D048-E2206593CD73}"/>
              </a:ext>
            </a:extLst>
          </p:cNvPr>
          <p:cNvSpPr/>
          <p:nvPr/>
        </p:nvSpPr>
        <p:spPr>
          <a:xfrm>
            <a:off x="2865119" y="1655234"/>
            <a:ext cx="8422641" cy="1329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31382D77-0153-3B8E-4EF2-0E7F9281D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861" y="1096747"/>
            <a:ext cx="316056" cy="268892"/>
          </a:xfrm>
          <a:prstGeom prst="rect">
            <a:avLst/>
          </a:prstGeom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08940619-4270-4EC6-91E1-C0BB0D47D627}"/>
              </a:ext>
            </a:extLst>
          </p:cNvPr>
          <p:cNvSpPr txBox="1"/>
          <p:nvPr/>
        </p:nvSpPr>
        <p:spPr>
          <a:xfrm>
            <a:off x="3376917" y="1057862"/>
            <a:ext cx="1611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i="1" dirty="0">
                <a:solidFill>
                  <a:schemeClr val="bg1">
                    <a:lumMod val="65000"/>
                  </a:schemeClr>
                </a:solidFill>
              </a:rPr>
              <a:t>generate_signal.py</a:t>
            </a:r>
            <a:endParaRPr lang="de-DE" sz="1400" dirty="0"/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D83A0F06-59E7-106B-3464-862AC277C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861" y="1919998"/>
            <a:ext cx="316056" cy="268892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E614C1DD-C174-C301-2C81-1045A60DAD9E}"/>
              </a:ext>
            </a:extLst>
          </p:cNvPr>
          <p:cNvSpPr txBox="1"/>
          <p:nvPr/>
        </p:nvSpPr>
        <p:spPr>
          <a:xfrm>
            <a:off x="3376917" y="1881113"/>
            <a:ext cx="10223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i="1" dirty="0">
                <a:solidFill>
                  <a:schemeClr val="bg1">
                    <a:lumMod val="65000"/>
                  </a:schemeClr>
                </a:solidFill>
              </a:rPr>
              <a:t>pipeline.py</a:t>
            </a:r>
            <a:endParaRPr lang="de-DE" sz="1400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241515AE-C85A-F44C-2EA8-7A6E42F25D46}"/>
              </a:ext>
            </a:extLst>
          </p:cNvPr>
          <p:cNvSpPr txBox="1"/>
          <p:nvPr/>
        </p:nvSpPr>
        <p:spPr>
          <a:xfrm>
            <a:off x="5191760" y="2720154"/>
            <a:ext cx="64078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End-</a:t>
            </a:r>
            <a:r>
              <a:rPr lang="de-DE" dirty="0" err="1"/>
              <a:t>to</a:t>
            </a:r>
            <a:r>
              <a:rPr lang="de-DE" dirty="0"/>
              <a:t>-end Software Pipeline zur Auswertung von Quantensensor </a:t>
            </a:r>
          </a:p>
          <a:p>
            <a:r>
              <a:rPr lang="de-DE" dirty="0"/>
              <a:t>Magnetfeldsignalen inklusive </a:t>
            </a:r>
            <a:r>
              <a:rPr lang="de-DE" dirty="0" err="1"/>
              <a:t>Preprocessing</a:t>
            </a:r>
            <a:r>
              <a:rPr lang="de-DE" dirty="0"/>
              <a:t>, KPI-Analyse und </a:t>
            </a:r>
          </a:p>
          <a:p>
            <a:r>
              <a:rPr lang="de-DE" dirty="0"/>
              <a:t>automatischer Fault </a:t>
            </a:r>
            <a:r>
              <a:rPr lang="de-DE" dirty="0" err="1"/>
              <a:t>Detection</a:t>
            </a:r>
            <a:r>
              <a:rPr lang="de-DE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7941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2">
            <a:extLst>
              <a:ext uri="{FF2B5EF4-FFF2-40B4-BE49-F238E27FC236}">
                <a16:creationId xmlns:a16="http://schemas.microsoft.com/office/drawing/2014/main" id="{A562A36A-8FD7-1D8A-34EE-9774F7D427F7}"/>
              </a:ext>
            </a:extLst>
          </p:cNvPr>
          <p:cNvSpPr txBox="1">
            <a:spLocks/>
          </p:cNvSpPr>
          <p:nvPr/>
        </p:nvSpPr>
        <p:spPr>
          <a:xfrm>
            <a:off x="271336" y="289049"/>
            <a:ext cx="10558800" cy="38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Simulation des Verhaltens des Magnetfeldsensors (Quantensensor)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6C9E2A3-7DA0-C666-8CB5-A4AD231858A7}"/>
              </a:ext>
            </a:extLst>
          </p:cNvPr>
          <p:cNvSpPr txBox="1"/>
          <p:nvPr/>
        </p:nvSpPr>
        <p:spPr>
          <a:xfrm>
            <a:off x="609600" y="1500513"/>
            <a:ext cx="10610790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dirty="0"/>
              <a:t>Der Spike simuliert einen kurzzeitigen magnetischen Transienten* (</a:t>
            </a:r>
            <a:r>
              <a:rPr lang="de-DE" dirty="0" err="1"/>
              <a:t>z.B</a:t>
            </a:r>
            <a:r>
              <a:rPr lang="de-DE" dirty="0"/>
              <a:t> EMI, Stromsprung oder Sensoroffset) </a:t>
            </a:r>
          </a:p>
          <a:p>
            <a:r>
              <a:rPr lang="de-DE" dirty="0"/>
              <a:t>wie er in realen Fahrzeug- und Quantensensoranwendungen auftritt. Er dient als künstlicher Fault zur Anomalie</a:t>
            </a:r>
          </a:p>
          <a:p>
            <a:r>
              <a:rPr lang="de-DE" dirty="0"/>
              <a:t>Erkennung.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1D26300-924E-B7BC-5A61-86B7A6A4263B}"/>
              </a:ext>
            </a:extLst>
          </p:cNvPr>
          <p:cNvSpPr txBox="1"/>
          <p:nvPr/>
        </p:nvSpPr>
        <p:spPr>
          <a:xfrm>
            <a:off x="487117" y="6009936"/>
            <a:ext cx="83944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i="1" dirty="0">
                <a:solidFill>
                  <a:schemeClr val="bg1">
                    <a:lumMod val="65000"/>
                  </a:schemeClr>
                </a:solidFill>
              </a:rPr>
              <a:t>* </a:t>
            </a:r>
            <a:r>
              <a:rPr lang="de-DE" sz="1400" i="1" dirty="0" err="1">
                <a:solidFill>
                  <a:schemeClr val="bg1">
                    <a:lumMod val="65000"/>
                  </a:schemeClr>
                </a:solidFill>
              </a:rPr>
              <a:t>Beispiel:ABS</a:t>
            </a:r>
            <a:r>
              <a:rPr lang="de-DE" sz="1400" i="1" dirty="0">
                <a:solidFill>
                  <a:schemeClr val="bg1">
                    <a:lumMod val="65000"/>
                  </a:schemeClr>
                </a:solidFill>
              </a:rPr>
              <a:t> Magnet Pickup Störung, Radgeschwindigkeit Störimpuls, IMU transient, NV-Sensor </a:t>
            </a:r>
            <a:r>
              <a:rPr lang="de-DE" sz="1400" i="1" dirty="0" err="1">
                <a:solidFill>
                  <a:schemeClr val="bg1">
                    <a:lumMod val="65000"/>
                  </a:schemeClr>
                </a:solidFill>
              </a:rPr>
              <a:t>magnetic</a:t>
            </a:r>
            <a:r>
              <a:rPr lang="de-DE" sz="1400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de-DE" sz="1400" i="1" dirty="0" err="1">
                <a:solidFill>
                  <a:schemeClr val="bg1">
                    <a:lumMod val="65000"/>
                  </a:schemeClr>
                </a:solidFill>
              </a:rPr>
              <a:t>glitch</a:t>
            </a:r>
            <a:endParaRPr lang="de-DE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709B2CF-FADA-82DE-46A4-13B4B758AC8D}"/>
              </a:ext>
            </a:extLst>
          </p:cNvPr>
          <p:cNvSpPr txBox="1"/>
          <p:nvPr/>
        </p:nvSpPr>
        <p:spPr>
          <a:xfrm>
            <a:off x="734907" y="4249491"/>
            <a:ext cx="115264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dirty="0"/>
              <a:t>Regelbasierte </a:t>
            </a:r>
            <a:r>
              <a:rPr lang="de-DE" u="sng" dirty="0" err="1"/>
              <a:t>Anomalieerkennung</a:t>
            </a:r>
            <a:r>
              <a:rPr lang="de-DE" u="sng" dirty="0"/>
              <a:t> und Qualitätsklassifikation</a:t>
            </a:r>
            <a:r>
              <a:rPr lang="de-DE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/>
              <a:t>Noise Bewertung </a:t>
            </a:r>
            <a:r>
              <a:rPr lang="el-GR" sz="1600" dirty="0">
                <a:solidFill>
                  <a:srgbClr val="639EDE"/>
                </a:solidFill>
              </a:rPr>
              <a:t>σ</a:t>
            </a:r>
            <a:r>
              <a:rPr lang="de-DE" sz="1600" dirty="0"/>
              <a:t>   </a:t>
            </a:r>
            <a:r>
              <a:rPr lang="de-DE" sz="1400" dirty="0" err="1">
                <a:solidFill>
                  <a:srgbClr val="639EDE"/>
                </a:solidFill>
              </a:rPr>
              <a:t>noisy</a:t>
            </a:r>
            <a:r>
              <a:rPr lang="de-DE" sz="1400" dirty="0">
                <a:solidFill>
                  <a:srgbClr val="639EDE"/>
                </a:solidFill>
              </a:rPr>
              <a:t> </a:t>
            </a:r>
            <a:r>
              <a:rPr lang="de-DE" sz="1600" dirty="0"/>
              <a:t>(Photon Shot Noise, NV-Fluoreszenzstatistik, Elektronik Noise)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/>
              <a:t>Drift Bewertung </a:t>
            </a:r>
            <a:r>
              <a:rPr lang="de-DE" sz="1400" i="1" dirty="0" err="1">
                <a:solidFill>
                  <a:srgbClr val="639EDE"/>
                </a:solidFill>
              </a:rPr>
              <a:t>drift_rate</a:t>
            </a:r>
            <a:r>
              <a:rPr lang="de-DE" sz="1400" i="1" dirty="0">
                <a:solidFill>
                  <a:srgbClr val="639EDE"/>
                </a:solidFill>
              </a:rPr>
              <a:t> ≠ 0 </a:t>
            </a:r>
            <a:r>
              <a:rPr lang="de-DE" sz="1600" dirty="0"/>
              <a:t>(Temperaturänderung, Alterung, Versorgungspannung  driftet, Magnetische Umgebung)     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/>
              <a:t>Transienten Erkennung: </a:t>
            </a:r>
            <a:r>
              <a:rPr lang="de-DE" sz="1400" i="1" dirty="0" err="1">
                <a:solidFill>
                  <a:srgbClr val="639EDE"/>
                </a:solidFill>
              </a:rPr>
              <a:t>spike_count</a:t>
            </a:r>
            <a:r>
              <a:rPr lang="de-DE" sz="1400" i="1" dirty="0"/>
              <a:t>, </a:t>
            </a:r>
            <a:r>
              <a:rPr lang="de-DE" sz="1400" i="1" dirty="0" err="1">
                <a:solidFill>
                  <a:srgbClr val="639EDE"/>
                </a:solidFill>
              </a:rPr>
              <a:t>spike_segments</a:t>
            </a:r>
            <a:r>
              <a:rPr lang="de-DE" sz="1400" i="1" dirty="0">
                <a:solidFill>
                  <a:srgbClr val="639EDE"/>
                </a:solidFill>
              </a:rPr>
              <a:t> </a:t>
            </a:r>
            <a:r>
              <a:rPr lang="de-DE" sz="1600" dirty="0"/>
              <a:t>(plötzlicher Sprung, EMI </a:t>
            </a:r>
            <a:r>
              <a:rPr lang="de-DE" sz="1600" dirty="0" err="1"/>
              <a:t>burst</a:t>
            </a:r>
            <a:r>
              <a:rPr lang="de-DE" sz="1600" dirty="0"/>
              <a:t>: Relais schaltet, Stromsprung, ADC Glitches)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867DB38-93E9-E9E7-EE90-4A15DFF8D974}"/>
              </a:ext>
            </a:extLst>
          </p:cNvPr>
          <p:cNvSpPr txBox="1"/>
          <p:nvPr/>
        </p:nvSpPr>
        <p:spPr>
          <a:xfrm>
            <a:off x="734907" y="2736915"/>
            <a:ext cx="88595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dirty="0"/>
              <a:t>Feature-/ KPI Extraktion &amp; Szenarien </a:t>
            </a:r>
            <a:r>
              <a:rPr lang="de-DE" u="sng" dirty="0" err="1"/>
              <a:t>Labeling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/>
              <a:t>Signalbasierte KPI-Extraktion (</a:t>
            </a:r>
            <a:r>
              <a:rPr lang="el-GR" sz="1600" dirty="0"/>
              <a:t>σ</a:t>
            </a:r>
            <a:r>
              <a:rPr lang="de-DE" sz="1600" dirty="0"/>
              <a:t>, p2p, </a:t>
            </a:r>
            <a:r>
              <a:rPr lang="de-DE" sz="1600" dirty="0" err="1"/>
              <a:t>drift</a:t>
            </a:r>
            <a:r>
              <a:rPr lang="de-DE" sz="1600" dirty="0"/>
              <a:t>, </a:t>
            </a:r>
            <a:r>
              <a:rPr lang="de-DE" sz="1600" dirty="0" err="1"/>
              <a:t>spikes</a:t>
            </a:r>
            <a:r>
              <a:rPr lang="de-DE"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 err="1"/>
              <a:t>Labelbare</a:t>
            </a:r>
            <a:r>
              <a:rPr lang="de-DE" sz="1600" dirty="0"/>
              <a:t> Szenarien (</a:t>
            </a:r>
            <a:r>
              <a:rPr lang="de-DE" sz="1600" dirty="0" err="1"/>
              <a:t>good</a:t>
            </a:r>
            <a:r>
              <a:rPr lang="de-DE" sz="1600" dirty="0"/>
              <a:t>/ </a:t>
            </a:r>
            <a:r>
              <a:rPr lang="de-DE" sz="1600" dirty="0" err="1"/>
              <a:t>noisy</a:t>
            </a:r>
            <a:r>
              <a:rPr lang="de-DE" sz="1600" dirty="0"/>
              <a:t>/ fault)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sz="1600" dirty="0"/>
              <a:t>Grundlage für regelbasierte Qualitätsklassifikation (</a:t>
            </a:r>
            <a:r>
              <a:rPr lang="de-DE" sz="1600" dirty="0" err="1"/>
              <a:t>Thresholds</a:t>
            </a:r>
            <a:r>
              <a:rPr lang="de-DE" sz="1600" dirty="0"/>
              <a:t> </a:t>
            </a:r>
            <a:r>
              <a:rPr lang="de-DE" sz="1600"/>
              <a:t>und Heuristiken)</a:t>
            </a:r>
            <a:endParaRPr lang="de-DE" sz="1600" dirty="0"/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4F6EE390-7CAA-4137-ED6F-EBE95D464327}"/>
              </a:ext>
            </a:extLst>
          </p:cNvPr>
          <p:cNvCxnSpPr/>
          <p:nvPr/>
        </p:nvCxnSpPr>
        <p:spPr>
          <a:xfrm flipV="1">
            <a:off x="3175000" y="4656667"/>
            <a:ext cx="67733" cy="10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026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D0E84A7F-27F3-511C-986E-C81202B39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4" y="3858895"/>
            <a:ext cx="3948704" cy="233195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2AC3C38-A709-346C-5741-2DDB92B54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180" y="951991"/>
            <a:ext cx="3903204" cy="219329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8504A15-D8A7-054A-ACF0-DDEC26A11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60" y="890774"/>
            <a:ext cx="3825844" cy="225451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E727D2D-A161-7AB2-C0FF-274DAE6C5E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252" y="3910623"/>
            <a:ext cx="4087401" cy="2306552"/>
          </a:xfrm>
          <a:prstGeom prst="rect">
            <a:avLst/>
          </a:prstGeom>
        </p:spPr>
      </p:pic>
      <p:sp>
        <p:nvSpPr>
          <p:cNvPr id="16" name="Textfeld 15">
            <a:extLst>
              <a:ext uri="{FF2B5EF4-FFF2-40B4-BE49-F238E27FC236}">
                <a16:creationId xmlns:a16="http://schemas.microsoft.com/office/drawing/2014/main" id="{24D9AE2E-27B6-EB27-EBEA-98C0AC17810C}"/>
              </a:ext>
            </a:extLst>
          </p:cNvPr>
          <p:cNvSpPr txBox="1"/>
          <p:nvPr/>
        </p:nvSpPr>
        <p:spPr>
          <a:xfrm>
            <a:off x="3990504" y="1567409"/>
            <a:ext cx="4172676" cy="27186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</a:pPr>
            <a:r>
              <a:rPr lang="de-DE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integration_time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de-DE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1e-2</a:t>
            </a:r>
            <a:r>
              <a:rPr lang="de-DE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4B6E708E-EB35-1D6F-86FA-60426171F445}"/>
              </a:ext>
            </a:extLst>
          </p:cNvPr>
          <p:cNvGrpSpPr/>
          <p:nvPr/>
        </p:nvGrpSpPr>
        <p:grpSpPr>
          <a:xfrm>
            <a:off x="4406140" y="1978938"/>
            <a:ext cx="3341403" cy="338554"/>
            <a:chOff x="-1" y="4679947"/>
            <a:chExt cx="4031311" cy="338554"/>
          </a:xfrm>
        </p:grpSpPr>
        <p:sp>
          <p:nvSpPr>
            <p:cNvPr id="19" name="Textfeld 18">
              <a:extLst>
                <a:ext uri="{FF2B5EF4-FFF2-40B4-BE49-F238E27FC236}">
                  <a16:creationId xmlns:a16="http://schemas.microsoft.com/office/drawing/2014/main" id="{AF06AAAB-07CF-F9D5-96A7-4DC392036201}"/>
                </a:ext>
              </a:extLst>
            </p:cNvPr>
            <p:cNvSpPr txBox="1"/>
            <p:nvPr/>
          </p:nvSpPr>
          <p:spPr>
            <a:xfrm>
              <a:off x="-1" y="4679947"/>
              <a:ext cx="4031311" cy="338554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de-DE" sz="1600" dirty="0" err="1"/>
                <a:t>integration_time</a:t>
              </a:r>
              <a:r>
                <a:rPr lang="de-DE" sz="1600" dirty="0"/>
                <a:t>    </a:t>
              </a:r>
              <a:r>
                <a:rPr lang="de-DE" sz="1600" dirty="0">
                  <a:sym typeface="Wingdings" panose="05000000000000000000" pitchFamily="2" charset="2"/>
                </a:rPr>
                <a:t> Noise     SNR</a:t>
              </a:r>
              <a:r>
                <a:rPr lang="de-DE" sz="1600" dirty="0"/>
                <a:t> </a:t>
              </a:r>
            </a:p>
          </p:txBody>
        </p:sp>
        <p:cxnSp>
          <p:nvCxnSpPr>
            <p:cNvPr id="20" name="Gerade Verbindung mit Pfeil 19">
              <a:extLst>
                <a:ext uri="{FF2B5EF4-FFF2-40B4-BE49-F238E27FC236}">
                  <a16:creationId xmlns:a16="http://schemas.microsoft.com/office/drawing/2014/main" id="{0EB43995-5A10-A61E-F909-AA676DD426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19359" y="4710091"/>
              <a:ext cx="0" cy="2782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89FB256E-89E0-9C94-52CF-19E802242E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8064" y="4710291"/>
              <a:ext cx="7952" cy="2780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 Verbindung mit Pfeil 21">
              <a:extLst>
                <a:ext uri="{FF2B5EF4-FFF2-40B4-BE49-F238E27FC236}">
                  <a16:creationId xmlns:a16="http://schemas.microsoft.com/office/drawing/2014/main" id="{20460EDD-4DA3-CBBB-6BF4-BDE43BD08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70848" y="4700043"/>
              <a:ext cx="0" cy="27829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itel 2">
            <a:extLst>
              <a:ext uri="{FF2B5EF4-FFF2-40B4-BE49-F238E27FC236}">
                <a16:creationId xmlns:a16="http://schemas.microsoft.com/office/drawing/2014/main" id="{A0F47C08-6F0E-A02E-F084-A90D61226E4D}"/>
              </a:ext>
            </a:extLst>
          </p:cNvPr>
          <p:cNvSpPr txBox="1">
            <a:spLocks/>
          </p:cNvSpPr>
          <p:nvPr/>
        </p:nvSpPr>
        <p:spPr>
          <a:xfrm>
            <a:off x="271336" y="289049"/>
            <a:ext cx="7285308" cy="38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Datengenerierung (Signal-Simulation)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7079E04C-EF30-C9BB-3791-FFAAA401350A}"/>
              </a:ext>
            </a:extLst>
          </p:cNvPr>
          <p:cNvSpPr txBox="1"/>
          <p:nvPr/>
        </p:nvSpPr>
        <p:spPr>
          <a:xfrm>
            <a:off x="3370506" y="5780419"/>
            <a:ext cx="647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sauber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648A848F-E75A-7040-8D75-850405E6105F}"/>
              </a:ext>
            </a:extLst>
          </p:cNvPr>
          <p:cNvSpPr txBox="1"/>
          <p:nvPr/>
        </p:nvSpPr>
        <p:spPr>
          <a:xfrm>
            <a:off x="6948733" y="5780420"/>
            <a:ext cx="1037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viel Rauschen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0881907-137C-3FA3-2100-6AEC1007AFC4}"/>
              </a:ext>
            </a:extLst>
          </p:cNvPr>
          <p:cNvGrpSpPr/>
          <p:nvPr/>
        </p:nvGrpSpPr>
        <p:grpSpPr>
          <a:xfrm>
            <a:off x="8007367" y="3362942"/>
            <a:ext cx="4097911" cy="2884098"/>
            <a:chOff x="3966440" y="3196899"/>
            <a:chExt cx="4097911" cy="2884098"/>
          </a:xfrm>
        </p:grpSpPr>
        <p:pic>
          <p:nvPicPr>
            <p:cNvPr id="44" name="Grafik 43">
              <a:extLst>
                <a:ext uri="{FF2B5EF4-FFF2-40B4-BE49-F238E27FC236}">
                  <a16:creationId xmlns:a16="http://schemas.microsoft.com/office/drawing/2014/main" id="{6839044A-554D-15F0-E7BE-AFB576FF8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54123" y="3240580"/>
              <a:ext cx="928907" cy="504000"/>
            </a:xfrm>
            <a:prstGeom prst="rect">
              <a:avLst/>
            </a:prstGeom>
          </p:spPr>
        </p:pic>
        <p:pic>
          <p:nvPicPr>
            <p:cNvPr id="42" name="Grafik 41">
              <a:extLst>
                <a:ext uri="{FF2B5EF4-FFF2-40B4-BE49-F238E27FC236}">
                  <a16:creationId xmlns:a16="http://schemas.microsoft.com/office/drawing/2014/main" id="{F89790DF-04EA-7AB1-F827-620773449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6440" y="3776997"/>
              <a:ext cx="4097911" cy="2304000"/>
            </a:xfrm>
            <a:prstGeom prst="rect">
              <a:avLst/>
            </a:prstGeom>
          </p:spPr>
        </p:pic>
        <p:pic>
          <p:nvPicPr>
            <p:cNvPr id="29" name="Grafik 28" descr="Lupe Silhouette">
              <a:extLst>
                <a:ext uri="{FF2B5EF4-FFF2-40B4-BE49-F238E27FC236}">
                  <a16:creationId xmlns:a16="http://schemas.microsoft.com/office/drawing/2014/main" id="{37E077BD-6572-93A4-FF61-058D2E0E2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15811200">
              <a:off x="5312555" y="3608828"/>
              <a:ext cx="491414" cy="491414"/>
            </a:xfrm>
            <a:prstGeom prst="rect">
              <a:avLst/>
            </a:prstGeom>
          </p:spPr>
        </p:pic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D41C9CF0-A969-726F-4809-3DAA33FE98D2}"/>
                </a:ext>
              </a:extLst>
            </p:cNvPr>
            <p:cNvSpPr txBox="1"/>
            <p:nvPr/>
          </p:nvSpPr>
          <p:spPr>
            <a:xfrm>
              <a:off x="6666509" y="5646205"/>
              <a:ext cx="135434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Normal + Ereignis</a:t>
              </a: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92639E14-1320-40C3-897C-BE653B7BA25F}"/>
                </a:ext>
              </a:extLst>
            </p:cNvPr>
            <p:cNvSpPr txBox="1"/>
            <p:nvPr/>
          </p:nvSpPr>
          <p:spPr>
            <a:xfrm>
              <a:off x="5310270" y="3837020"/>
              <a:ext cx="420308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800" dirty="0" err="1">
                  <a:solidFill>
                    <a:schemeClr val="bg1">
                      <a:lumMod val="65000"/>
                    </a:schemeClr>
                  </a:solidFill>
                </a:rPr>
                <a:t>spike</a:t>
              </a:r>
              <a:endParaRPr lang="de-DE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8" name="Textfeld 37">
              <a:extLst>
                <a:ext uri="{FF2B5EF4-FFF2-40B4-BE49-F238E27FC236}">
                  <a16:creationId xmlns:a16="http://schemas.microsoft.com/office/drawing/2014/main" id="{F6D3F864-43E5-E5F9-A182-220F25A647C7}"/>
                </a:ext>
              </a:extLst>
            </p:cNvPr>
            <p:cNvSpPr txBox="1"/>
            <p:nvPr/>
          </p:nvSpPr>
          <p:spPr>
            <a:xfrm>
              <a:off x="6112276" y="3196899"/>
              <a:ext cx="120097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800" dirty="0">
                  <a:solidFill>
                    <a:schemeClr val="bg1">
                      <a:lumMod val="65000"/>
                    </a:schemeClr>
                  </a:solidFill>
                </a:rPr>
                <a:t>Spike</a:t>
              </a:r>
            </a:p>
            <a:p>
              <a:r>
                <a:rPr lang="de-DE" sz="800" dirty="0">
                  <a:solidFill>
                    <a:schemeClr val="bg1">
                      <a:lumMod val="65000"/>
                    </a:schemeClr>
                  </a:solidFill>
                </a:rPr>
                <a:t>Dauer: 1-5ms</a:t>
              </a:r>
            </a:p>
            <a:p>
              <a:r>
                <a:rPr lang="de-DE" sz="800" dirty="0" err="1">
                  <a:solidFill>
                    <a:schemeClr val="bg1">
                      <a:lumMod val="65000"/>
                    </a:schemeClr>
                  </a:solidFill>
                </a:rPr>
                <a:t>Amplit</a:t>
              </a:r>
              <a:r>
                <a:rPr lang="de-DE" sz="800" dirty="0">
                  <a:solidFill>
                    <a:schemeClr val="bg1">
                      <a:lumMod val="65000"/>
                    </a:schemeClr>
                  </a:solidFill>
                </a:rPr>
                <a:t>: 5x50 Rauschen</a:t>
              </a:r>
            </a:p>
            <a:p>
              <a:r>
                <a:rPr lang="de-DE" sz="800" dirty="0">
                  <a:solidFill>
                    <a:schemeClr val="bg1">
                      <a:lumMod val="65000"/>
                    </a:schemeClr>
                  </a:solidFill>
                </a:rPr>
                <a:t>Rückkehr: sofort</a:t>
              </a:r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0270DAA1-D437-2DCD-9B34-8CC6CA8B779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64301" y="288952"/>
            <a:ext cx="316056" cy="26889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1691E942-8917-23E3-2FB1-E2AC086014A4}"/>
              </a:ext>
            </a:extLst>
          </p:cNvPr>
          <p:cNvSpPr txBox="1"/>
          <p:nvPr/>
        </p:nvSpPr>
        <p:spPr>
          <a:xfrm>
            <a:off x="10580357" y="250067"/>
            <a:ext cx="16116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i="1" dirty="0">
                <a:solidFill>
                  <a:schemeClr val="bg1">
                    <a:lumMod val="65000"/>
                  </a:schemeClr>
                </a:solidFill>
              </a:rPr>
              <a:t>generate_signal.py</a:t>
            </a:r>
            <a:endParaRPr lang="de-DE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D6F3FD1-921C-4489-C93F-D1240805A8DE}"/>
              </a:ext>
            </a:extLst>
          </p:cNvPr>
          <p:cNvSpPr txBox="1"/>
          <p:nvPr/>
        </p:nvSpPr>
        <p:spPr>
          <a:xfrm>
            <a:off x="4470518" y="2407460"/>
            <a:ext cx="30530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Simulation berücksichtigt:</a:t>
            </a:r>
          </a:p>
          <a:p>
            <a:pPr marL="171450" indent="-171450">
              <a:buFontTx/>
              <a:buChar char="-"/>
            </a:pPr>
            <a:r>
              <a:rPr lang="de-DE" sz="1200" dirty="0"/>
              <a:t>Quantenschussrauschen (</a:t>
            </a:r>
            <a:r>
              <a:rPr lang="de-DE" sz="1200" dirty="0" err="1"/>
              <a:t>integration_time</a:t>
            </a:r>
            <a:r>
              <a:rPr lang="de-DE" sz="1200" dirty="0"/>
              <a:t>)</a:t>
            </a:r>
          </a:p>
          <a:p>
            <a:pPr marL="171450" indent="-171450">
              <a:buFontTx/>
              <a:buChar char="-"/>
            </a:pPr>
            <a:r>
              <a:rPr lang="de-DE" sz="1200" dirty="0"/>
              <a:t>Drift (Temperatur/ Versorgung)</a:t>
            </a:r>
          </a:p>
          <a:p>
            <a:pPr marL="171450" indent="-171450">
              <a:buFontTx/>
              <a:buChar char="-"/>
            </a:pPr>
            <a:r>
              <a:rPr lang="de-DE" sz="1200" dirty="0"/>
              <a:t>Kurzzeit-Transienten (EMI, Stromsprung)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B0D2D54-CEB1-C0E3-193A-89C2B3C118A4}"/>
              </a:ext>
            </a:extLst>
          </p:cNvPr>
          <p:cNvSpPr txBox="1"/>
          <p:nvPr/>
        </p:nvSpPr>
        <p:spPr>
          <a:xfrm>
            <a:off x="4458133" y="6415062"/>
            <a:ext cx="3265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</a:rPr>
              <a:t>Realistische Basis für Inbetriebnahme-Test</a:t>
            </a:r>
          </a:p>
        </p:txBody>
      </p:sp>
    </p:spTree>
    <p:extLst>
      <p:ext uri="{BB962C8B-B14F-4D97-AF65-F5344CB8AC3E}">
        <p14:creationId xmlns:p14="http://schemas.microsoft.com/office/powerpoint/2010/main" val="3391267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2">
            <a:extLst>
              <a:ext uri="{FF2B5EF4-FFF2-40B4-BE49-F238E27FC236}">
                <a16:creationId xmlns:a16="http://schemas.microsoft.com/office/drawing/2014/main" id="{29B475C5-C0F9-68CB-3D73-D04B0831752D}"/>
              </a:ext>
            </a:extLst>
          </p:cNvPr>
          <p:cNvSpPr txBox="1">
            <a:spLocks/>
          </p:cNvSpPr>
          <p:nvPr/>
        </p:nvSpPr>
        <p:spPr>
          <a:xfrm>
            <a:off x="271336" y="250067"/>
            <a:ext cx="6901624" cy="38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Preprocessing</a:t>
            </a:r>
            <a:r>
              <a:rPr lang="de-DE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&amp; KPI Analyse</a:t>
            </a:r>
            <a:endParaRPr lang="de-DE" sz="1400" i="1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E466379D-6730-8432-5A1A-0440C8F66BE1}"/>
              </a:ext>
            </a:extLst>
          </p:cNvPr>
          <p:cNvGrpSpPr/>
          <p:nvPr/>
        </p:nvGrpSpPr>
        <p:grpSpPr>
          <a:xfrm>
            <a:off x="237484" y="970919"/>
            <a:ext cx="11257280" cy="2635881"/>
            <a:chOff x="0" y="1001399"/>
            <a:chExt cx="11975168" cy="3050014"/>
          </a:xfrm>
        </p:grpSpPr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4ABFE0C6-DF52-2D70-2430-303984EDF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105709"/>
              <a:ext cx="3991406" cy="2945704"/>
            </a:xfrm>
            <a:prstGeom prst="rect">
              <a:avLst/>
            </a:prstGeom>
          </p:spPr>
        </p:pic>
        <p:pic>
          <p:nvPicPr>
            <p:cNvPr id="18" name="Grafik 17">
              <a:extLst>
                <a:ext uri="{FF2B5EF4-FFF2-40B4-BE49-F238E27FC236}">
                  <a16:creationId xmlns:a16="http://schemas.microsoft.com/office/drawing/2014/main" id="{76F5664F-FD40-E1FD-0EA8-EDE7F68AC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91406" y="1001399"/>
              <a:ext cx="4079394" cy="3050014"/>
            </a:xfrm>
            <a:prstGeom prst="rect">
              <a:avLst/>
            </a:prstGeom>
          </p:spPr>
        </p:pic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1D7BD284-890B-D5DD-5CA8-08A0AA6AD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60894" y="1001399"/>
              <a:ext cx="3914274" cy="2895491"/>
            </a:xfrm>
            <a:prstGeom prst="rect">
              <a:avLst/>
            </a:prstGeom>
          </p:spPr>
        </p:pic>
      </p:grpSp>
      <p:pic>
        <p:nvPicPr>
          <p:cNvPr id="28" name="Grafik 27">
            <a:extLst>
              <a:ext uri="{FF2B5EF4-FFF2-40B4-BE49-F238E27FC236}">
                <a16:creationId xmlns:a16="http://schemas.microsoft.com/office/drawing/2014/main" id="{69062EA6-2F81-9A88-9136-2D84B8A308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3033" y="1221750"/>
            <a:ext cx="596487" cy="450363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9F1F23E1-D114-BE86-E6AC-5D4364E475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0764" y="298193"/>
            <a:ext cx="316056" cy="268892"/>
          </a:xfrm>
          <a:prstGeom prst="rect">
            <a:avLst/>
          </a:prstGeom>
        </p:spPr>
      </p:pic>
      <p:sp>
        <p:nvSpPr>
          <p:cNvPr id="37" name="Textfeld 36">
            <a:extLst>
              <a:ext uri="{FF2B5EF4-FFF2-40B4-BE49-F238E27FC236}">
                <a16:creationId xmlns:a16="http://schemas.microsoft.com/office/drawing/2014/main" id="{F9F96B4A-E028-8D7E-7203-5166B9467F7B}"/>
              </a:ext>
            </a:extLst>
          </p:cNvPr>
          <p:cNvSpPr txBox="1"/>
          <p:nvPr/>
        </p:nvSpPr>
        <p:spPr>
          <a:xfrm>
            <a:off x="3168775" y="3620915"/>
            <a:ext cx="53911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/>
              <a:t>Linear </a:t>
            </a:r>
            <a:r>
              <a:rPr lang="de-DE" sz="1400" dirty="0" err="1"/>
              <a:t>Detrend</a:t>
            </a:r>
            <a:r>
              <a:rPr lang="de-DE" sz="1400" dirty="0"/>
              <a:t> (</a:t>
            </a:r>
            <a:r>
              <a:rPr lang="de-DE" sz="1400" dirty="0" err="1"/>
              <a:t>drift</a:t>
            </a:r>
            <a:r>
              <a:rPr lang="de-DE" sz="1400" dirty="0"/>
              <a:t> entfernen) und  </a:t>
            </a:r>
            <a:r>
              <a:rPr lang="de-DE" sz="1400" dirty="0" err="1"/>
              <a:t>Lowpass</a:t>
            </a:r>
            <a:r>
              <a:rPr lang="de-DE" sz="1400" dirty="0"/>
              <a:t> Filter (Noise Suppression)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1FD6D0F3-B39B-06DF-F306-4BF36B959E7E}"/>
              </a:ext>
            </a:extLst>
          </p:cNvPr>
          <p:cNvSpPr txBox="1"/>
          <p:nvPr/>
        </p:nvSpPr>
        <p:spPr>
          <a:xfrm>
            <a:off x="10727394" y="250067"/>
            <a:ext cx="11999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i="1" dirty="0">
                <a:solidFill>
                  <a:schemeClr val="bg1">
                    <a:lumMod val="65000"/>
                  </a:schemeClr>
                </a:solidFill>
              </a:rPr>
              <a:t>pipeline.py</a:t>
            </a:r>
            <a:endParaRPr lang="de-DE" sz="14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2A4F272-C804-E612-1636-35A167F6A2F0}"/>
              </a:ext>
            </a:extLst>
          </p:cNvPr>
          <p:cNvSpPr txBox="1"/>
          <p:nvPr/>
        </p:nvSpPr>
        <p:spPr>
          <a:xfrm>
            <a:off x="550843" y="4353647"/>
            <a:ext cx="4955877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600" b="1" dirty="0"/>
              <a:t> </a:t>
            </a:r>
            <a:r>
              <a:rPr lang="el-GR" b="1" dirty="0"/>
              <a:t>σ</a:t>
            </a:r>
            <a:r>
              <a:rPr lang="de-DE" sz="1600" dirty="0"/>
              <a:t> (Noise </a:t>
            </a:r>
            <a:r>
              <a:rPr lang="de-DE" sz="1600" dirty="0" err="1"/>
              <a:t>level</a:t>
            </a:r>
            <a:r>
              <a:rPr lang="de-DE" sz="1600" dirty="0"/>
              <a:t>)</a:t>
            </a:r>
            <a:r>
              <a:rPr lang="de-DE" sz="1600" i="1" dirty="0"/>
              <a:t>: Standardabweichung des Signals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1600" i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600" b="1" dirty="0"/>
              <a:t>Peak-</a:t>
            </a:r>
            <a:r>
              <a:rPr lang="de-DE" sz="1600" b="1" dirty="0" err="1"/>
              <a:t>to</a:t>
            </a:r>
            <a:r>
              <a:rPr lang="de-DE" sz="1600" b="1" dirty="0"/>
              <a:t>-Peak</a:t>
            </a:r>
            <a:r>
              <a:rPr lang="de-DE" sz="1600" dirty="0"/>
              <a:t>–  Maximale Feldvariation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16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000" b="1" dirty="0"/>
              <a:t> </a:t>
            </a:r>
            <a:r>
              <a:rPr lang="de-DE" sz="1600" b="1" dirty="0"/>
              <a:t>Drift Rate </a:t>
            </a:r>
            <a:r>
              <a:rPr lang="de-DE" sz="1600" dirty="0"/>
              <a:t>– Feldänderung pro Sekunde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de-DE" sz="1400" b="1" i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1600" b="1" dirty="0"/>
              <a:t>SNR-Proxy</a:t>
            </a:r>
            <a:r>
              <a:rPr lang="de-DE" sz="1600" dirty="0"/>
              <a:t>: p2p/(2</a:t>
            </a:r>
            <a:r>
              <a:rPr lang="el-GR" sz="1600" dirty="0"/>
              <a:t>σ</a:t>
            </a:r>
            <a:r>
              <a:rPr lang="de-DE" sz="1600" dirty="0"/>
              <a:t>)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43DBB26-67AB-B0AB-F55C-5F1055BEF3B6}"/>
              </a:ext>
            </a:extLst>
          </p:cNvPr>
          <p:cNvSpPr txBox="1"/>
          <p:nvPr/>
        </p:nvSpPr>
        <p:spPr>
          <a:xfrm>
            <a:off x="3557077" y="6454044"/>
            <a:ext cx="7770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</a:rPr>
              <a:t>Quantitative Bewertung von Signalqualität und Sensorstabilität</a:t>
            </a:r>
          </a:p>
        </p:txBody>
      </p:sp>
      <p:graphicFrame>
        <p:nvGraphicFramePr>
          <p:cNvPr id="8" name="Tabelle 7">
            <a:extLst>
              <a:ext uri="{FF2B5EF4-FFF2-40B4-BE49-F238E27FC236}">
                <a16:creationId xmlns:a16="http://schemas.microsoft.com/office/drawing/2014/main" id="{791F2C9E-A840-7DEF-C6C6-0C055F1E3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813870"/>
              </p:ext>
            </p:extLst>
          </p:nvPr>
        </p:nvGraphicFramePr>
        <p:xfrm>
          <a:off x="5907034" y="4332935"/>
          <a:ext cx="61460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505">
                  <a:extLst>
                    <a:ext uri="{9D8B030D-6E8A-4147-A177-3AD203B41FA5}">
                      <a16:colId xmlns:a16="http://schemas.microsoft.com/office/drawing/2014/main" val="3855374623"/>
                    </a:ext>
                  </a:extLst>
                </a:gridCol>
                <a:gridCol w="1536505">
                  <a:extLst>
                    <a:ext uri="{9D8B030D-6E8A-4147-A177-3AD203B41FA5}">
                      <a16:colId xmlns:a16="http://schemas.microsoft.com/office/drawing/2014/main" val="4071005785"/>
                    </a:ext>
                  </a:extLst>
                </a:gridCol>
                <a:gridCol w="1536505">
                  <a:extLst>
                    <a:ext uri="{9D8B030D-6E8A-4147-A177-3AD203B41FA5}">
                      <a16:colId xmlns:a16="http://schemas.microsoft.com/office/drawing/2014/main" val="2661130034"/>
                    </a:ext>
                  </a:extLst>
                </a:gridCol>
                <a:gridCol w="1536505">
                  <a:extLst>
                    <a:ext uri="{9D8B030D-6E8A-4147-A177-3AD203B41FA5}">
                      <a16:colId xmlns:a16="http://schemas.microsoft.com/office/drawing/2014/main" val="202377875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 err="1"/>
                        <a:t>sigma</a:t>
                      </a:r>
                      <a:r>
                        <a:rPr lang="de-DE" sz="1600" dirty="0"/>
                        <a:t> [T]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Drift [T/s]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 err="1"/>
                        <a:t>snr_proxy</a:t>
                      </a:r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71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good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3.539832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-1.697449e-08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1.516275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38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noisy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3.564075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5.301185e-09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1.665621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71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3.495511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1.469641e-08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1.811625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29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2575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2">
            <a:extLst>
              <a:ext uri="{FF2B5EF4-FFF2-40B4-BE49-F238E27FC236}">
                <a16:creationId xmlns:a16="http://schemas.microsoft.com/office/drawing/2014/main" id="{AB43B295-A97F-73F3-46B2-F6B3D96F5EEF}"/>
              </a:ext>
            </a:extLst>
          </p:cNvPr>
          <p:cNvSpPr txBox="1">
            <a:spLocks/>
          </p:cNvSpPr>
          <p:nvPr/>
        </p:nvSpPr>
        <p:spPr>
          <a:xfrm>
            <a:off x="271337" y="289049"/>
            <a:ext cx="3386264" cy="38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Faults </a:t>
            </a:r>
            <a:r>
              <a:rPr lang="de-DE" sz="2800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detection</a:t>
            </a:r>
            <a:r>
              <a:rPr lang="de-DE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                      </a:t>
            </a:r>
            <a:endParaRPr lang="de-DE" sz="2800" i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C357729-6B31-A69E-807F-A80F2816CCB8}"/>
              </a:ext>
            </a:extLst>
          </p:cNvPr>
          <p:cNvSpPr txBox="1"/>
          <p:nvPr/>
        </p:nvSpPr>
        <p:spPr>
          <a:xfrm>
            <a:off x="1235295" y="3619878"/>
            <a:ext cx="309764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400" b="1" dirty="0"/>
              <a:t> </a:t>
            </a:r>
            <a:r>
              <a:rPr lang="de-DE" sz="1600" b="1" dirty="0" err="1"/>
              <a:t>spike_count</a:t>
            </a:r>
            <a:r>
              <a:rPr lang="de-DE" sz="1600" b="1" dirty="0"/>
              <a:t> </a:t>
            </a:r>
            <a:r>
              <a:rPr lang="de-DE" sz="1600" dirty="0"/>
              <a:t>–</a:t>
            </a:r>
            <a:r>
              <a:rPr lang="de-DE" dirty="0"/>
              <a:t> </a:t>
            </a:r>
            <a:r>
              <a:rPr lang="de-DE" sz="1400" dirty="0"/>
              <a:t>Anzahl der Spikes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96D746C-9F07-D7B2-04D2-128DDCBE8CDC}"/>
              </a:ext>
            </a:extLst>
          </p:cNvPr>
          <p:cNvSpPr txBox="1"/>
          <p:nvPr/>
        </p:nvSpPr>
        <p:spPr>
          <a:xfrm>
            <a:off x="1235295" y="4081543"/>
            <a:ext cx="51350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de-DE" sz="2400" b="1" dirty="0"/>
              <a:t> </a:t>
            </a:r>
            <a:r>
              <a:rPr lang="de-DE" sz="1600" b="1" dirty="0" err="1"/>
              <a:t>spike_segments</a:t>
            </a:r>
            <a:r>
              <a:rPr lang="de-DE" sz="1600" b="1" dirty="0"/>
              <a:t> </a:t>
            </a:r>
            <a:r>
              <a:rPr lang="de-DE" sz="1600" dirty="0"/>
              <a:t>– </a:t>
            </a:r>
            <a:r>
              <a:rPr lang="de-DE" sz="1400" dirty="0"/>
              <a:t>Zeitfenster der Anomalie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C709072-7D7F-AEDD-6A74-97865F47981A}"/>
              </a:ext>
            </a:extLst>
          </p:cNvPr>
          <p:cNvSpPr txBox="1"/>
          <p:nvPr/>
        </p:nvSpPr>
        <p:spPr>
          <a:xfrm>
            <a:off x="829213" y="1370106"/>
            <a:ext cx="1020064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de-DE" dirty="0"/>
              <a:t>Ableitung bilden </a:t>
            </a:r>
            <a:r>
              <a:rPr lang="el-GR" dirty="0"/>
              <a:t>Δ</a:t>
            </a:r>
            <a:r>
              <a:rPr lang="de-DE" dirty="0"/>
              <a:t>B; </a:t>
            </a:r>
            <a:r>
              <a:rPr lang="de-DE" dirty="0" err="1"/>
              <a:t>db</a:t>
            </a:r>
            <a:r>
              <a:rPr lang="de-DE" dirty="0"/>
              <a:t>[i] = b[i] –B[i-1]</a:t>
            </a:r>
          </a:p>
          <a:p>
            <a:pPr marL="342900" indent="-342900">
              <a:buAutoNum type="arabicPeriod"/>
            </a:pPr>
            <a:r>
              <a:rPr lang="de-DE" dirty="0"/>
              <a:t>Rolling Z-Score;  man vergleicht jede Änderung mit dem lokalen Rauschpegel</a:t>
            </a:r>
          </a:p>
          <a:p>
            <a:pPr marL="342900" indent="-342900">
              <a:buAutoNum type="arabicPeriod"/>
            </a:pPr>
            <a:r>
              <a:rPr lang="de-DE" dirty="0"/>
              <a:t>Threshold</a:t>
            </a:r>
          </a:p>
          <a:p>
            <a:pPr marL="342900" indent="-342900">
              <a:buAutoNum type="arabicPeriod"/>
            </a:pPr>
            <a:r>
              <a:rPr lang="de-DE" dirty="0"/>
              <a:t>Segmentierung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6CAD7CF-1867-DE66-1E89-8719D7EC5793}"/>
              </a:ext>
            </a:extLst>
          </p:cNvPr>
          <p:cNvSpPr txBox="1"/>
          <p:nvPr/>
        </p:nvSpPr>
        <p:spPr>
          <a:xfrm rot="16200000">
            <a:off x="33208" y="3862409"/>
            <a:ext cx="1254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Kurzzeitige </a:t>
            </a:r>
          </a:p>
          <a:p>
            <a:r>
              <a:rPr lang="de-DE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Anomalien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41EDCB78-D88F-A480-D6CF-DDF032858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0764" y="298193"/>
            <a:ext cx="316056" cy="268892"/>
          </a:xfrm>
          <a:prstGeom prst="rect">
            <a:avLst/>
          </a:prstGeom>
        </p:spPr>
      </p:pic>
      <p:sp>
        <p:nvSpPr>
          <p:cNvPr id="21" name="Textfeld 20">
            <a:extLst>
              <a:ext uri="{FF2B5EF4-FFF2-40B4-BE49-F238E27FC236}">
                <a16:creationId xmlns:a16="http://schemas.microsoft.com/office/drawing/2014/main" id="{454C2003-0921-E0BD-FFC5-176E8D020E79}"/>
              </a:ext>
            </a:extLst>
          </p:cNvPr>
          <p:cNvSpPr txBox="1"/>
          <p:nvPr/>
        </p:nvSpPr>
        <p:spPr>
          <a:xfrm>
            <a:off x="10727394" y="250067"/>
            <a:ext cx="119994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i="1" dirty="0">
                <a:solidFill>
                  <a:schemeClr val="bg1">
                    <a:lumMod val="65000"/>
                  </a:schemeClr>
                </a:solidFill>
              </a:rPr>
              <a:t>pipeline.py</a:t>
            </a:r>
            <a:endParaRPr lang="de-DE" sz="14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01C4A0B-F4CD-F06F-6380-550D3269223A}"/>
              </a:ext>
            </a:extLst>
          </p:cNvPr>
          <p:cNvSpPr txBox="1"/>
          <p:nvPr/>
        </p:nvSpPr>
        <p:spPr>
          <a:xfrm>
            <a:off x="660399" y="958357"/>
            <a:ext cx="2660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Spike </a:t>
            </a:r>
            <a:r>
              <a:rPr lang="de-DE" b="1" dirty="0" err="1"/>
              <a:t>Detection</a:t>
            </a:r>
            <a:r>
              <a:rPr lang="de-DE" b="1" dirty="0"/>
              <a:t> Pipeline</a:t>
            </a:r>
            <a:r>
              <a:rPr lang="de-DE" dirty="0"/>
              <a:t>: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5FEE598C-CA07-5FD3-23E9-C71D46CEA8C7}"/>
              </a:ext>
            </a:extLst>
          </p:cNvPr>
          <p:cNvSpPr txBox="1"/>
          <p:nvPr/>
        </p:nvSpPr>
        <p:spPr>
          <a:xfrm>
            <a:off x="727403" y="3188790"/>
            <a:ext cx="1263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b="1" dirty="0"/>
              <a:t>Ergebnisse:</a:t>
            </a:r>
            <a:endParaRPr lang="de-DE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8782E297-3E0D-DB25-D5F5-6576B7A67576}"/>
              </a:ext>
            </a:extLst>
          </p:cNvPr>
          <p:cNvSpPr txBox="1"/>
          <p:nvPr/>
        </p:nvSpPr>
        <p:spPr>
          <a:xfrm>
            <a:off x="3364568" y="6455702"/>
            <a:ext cx="51299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</a:rPr>
              <a:t>Automatische Erkennung von EMI-Ereignissen/ Magnetfeld-Glitches</a:t>
            </a:r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AFDCCD52-BC23-DD65-467B-BF408B619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847174"/>
              </p:ext>
            </p:extLst>
          </p:nvPr>
        </p:nvGraphicFramePr>
        <p:xfrm>
          <a:off x="6370320" y="3194757"/>
          <a:ext cx="4609515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505">
                  <a:extLst>
                    <a:ext uri="{9D8B030D-6E8A-4147-A177-3AD203B41FA5}">
                      <a16:colId xmlns:a16="http://schemas.microsoft.com/office/drawing/2014/main" val="3855374623"/>
                    </a:ext>
                  </a:extLst>
                </a:gridCol>
                <a:gridCol w="1536505">
                  <a:extLst>
                    <a:ext uri="{9D8B030D-6E8A-4147-A177-3AD203B41FA5}">
                      <a16:colId xmlns:a16="http://schemas.microsoft.com/office/drawing/2014/main" val="3430080367"/>
                    </a:ext>
                  </a:extLst>
                </a:gridCol>
                <a:gridCol w="1536505">
                  <a:extLst>
                    <a:ext uri="{9D8B030D-6E8A-4147-A177-3AD203B41FA5}">
                      <a16:colId xmlns:a16="http://schemas.microsoft.com/office/drawing/2014/main" val="25028420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1600" dirty="0">
                          <a:solidFill>
                            <a:schemeClr val="bg1"/>
                          </a:solidFill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 err="1"/>
                        <a:t>spike_count</a:t>
                      </a:r>
                      <a:endParaRPr lang="de-DE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err="1"/>
                        <a:t>spike_segments</a:t>
                      </a:r>
                      <a:endParaRPr lang="de-DE" sz="1600" dirty="0"/>
                    </a:p>
                    <a:p>
                      <a:pPr algn="ctr"/>
                      <a:endParaRPr lang="de-DE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871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good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938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 err="1"/>
                        <a:t>noisy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713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fault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dirty="0"/>
                        <a:t>3.0003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929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90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91BF2-0B49-0EB5-D48A-D7066915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2">
            <a:extLst>
              <a:ext uri="{FF2B5EF4-FFF2-40B4-BE49-F238E27FC236}">
                <a16:creationId xmlns:a16="http://schemas.microsoft.com/office/drawing/2014/main" id="{7F4E0A2F-2103-08F4-742A-E308AAB37391}"/>
              </a:ext>
            </a:extLst>
          </p:cNvPr>
          <p:cNvSpPr txBox="1">
            <a:spLocks/>
          </p:cNvSpPr>
          <p:nvPr/>
        </p:nvSpPr>
        <p:spPr>
          <a:xfrm>
            <a:off x="271336" y="289049"/>
            <a:ext cx="4105931" cy="38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Summary</a:t>
            </a:r>
            <a:endParaRPr lang="de-DE" sz="2800" i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C1E3F3C-4C99-8440-6422-EBCA5212EFB8}"/>
              </a:ext>
            </a:extLst>
          </p:cNvPr>
          <p:cNvSpPr txBox="1"/>
          <p:nvPr/>
        </p:nvSpPr>
        <p:spPr>
          <a:xfrm>
            <a:off x="713793" y="872382"/>
            <a:ext cx="10573968" cy="258532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de-DE" dirty="0"/>
              <a:t>Entwicklung einer End-</a:t>
            </a:r>
            <a:r>
              <a:rPr lang="de-DE" dirty="0" err="1"/>
              <a:t>to</a:t>
            </a:r>
            <a:r>
              <a:rPr lang="de-DE" dirty="0"/>
              <a:t>-End Software Pipeline zur:</a:t>
            </a:r>
          </a:p>
          <a:p>
            <a:endParaRPr lang="de-DE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de-DE" dirty="0"/>
              <a:t>Simulation von Quantensensor-Signalen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de-DE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de-DE" dirty="0"/>
              <a:t>Signalaufbereitung (</a:t>
            </a:r>
            <a:r>
              <a:rPr lang="de-DE" dirty="0" err="1"/>
              <a:t>Preprocessing</a:t>
            </a:r>
            <a:r>
              <a:rPr lang="de-DE" dirty="0"/>
              <a:t>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de-DE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de-DE" dirty="0"/>
              <a:t>Physikalisch motivierter KPI-Extraktion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de-DE" dirty="0"/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de-DE" dirty="0"/>
              <a:t>Automatischer Spike-basierter Fehlerdetektion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7BD346F-9245-A23A-80CE-6616A36A6877}"/>
              </a:ext>
            </a:extLst>
          </p:cNvPr>
          <p:cNvSpPr txBox="1"/>
          <p:nvPr/>
        </p:nvSpPr>
        <p:spPr>
          <a:xfrm>
            <a:off x="1137523" y="4176590"/>
            <a:ext cx="6479488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de-DE" dirty="0"/>
              <a:t>Automatisierte Sensor-Inbetriebnahme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de-DE" dirty="0"/>
              <a:t>Robuste Fehlererkennung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de-DE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de-DE" dirty="0"/>
              <a:t>Übertragbar auf reale Quantensensoren</a:t>
            </a:r>
          </a:p>
        </p:txBody>
      </p:sp>
      <p:sp>
        <p:nvSpPr>
          <p:cNvPr id="6" name="Titel 2">
            <a:extLst>
              <a:ext uri="{FF2B5EF4-FFF2-40B4-BE49-F238E27FC236}">
                <a16:creationId xmlns:a16="http://schemas.microsoft.com/office/drawing/2014/main" id="{72FD3724-6C74-05CA-2BA6-D008103E59F2}"/>
              </a:ext>
            </a:extLst>
          </p:cNvPr>
          <p:cNvSpPr txBox="1">
            <a:spLocks/>
          </p:cNvSpPr>
          <p:nvPr/>
        </p:nvSpPr>
        <p:spPr>
          <a:xfrm>
            <a:off x="403415" y="3684897"/>
            <a:ext cx="4105931" cy="3888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Fazit</a:t>
            </a:r>
            <a:endParaRPr lang="de-DE" sz="2800" i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9968804"/>
      </p:ext>
    </p:extLst>
  </p:cSld>
  <p:clrMapOvr>
    <a:masterClrMapping/>
  </p:clrMapOvr>
</p:sld>
</file>

<file path=ppt/theme/theme1.xml><?xml version="1.0" encoding="utf-8"?>
<a:theme xmlns:a="http://schemas.openxmlformats.org/drawingml/2006/main" name="Rückblick">
  <a:themeElements>
    <a:clrScheme name="Bla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Rückblick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ückblick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521</Words>
  <Application>Microsoft Office PowerPoint</Application>
  <PresentationFormat>Breitbild</PresentationFormat>
  <Paragraphs>130</Paragraphs>
  <Slides>8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Consolas</vt:lpstr>
      <vt:lpstr>Wingdings</vt:lpstr>
      <vt:lpstr>Rückblick</vt:lpstr>
      <vt:lpstr>Quantensensor Signal Analyse Pipeline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Mitrea Sorana (PS-SC/ESY2)</dc:creator>
  <cp:lastModifiedBy>Mitrea Sorana (PS-SC/ESY2)</cp:lastModifiedBy>
  <cp:revision>11</cp:revision>
  <dcterms:created xsi:type="dcterms:W3CDTF">2026-02-03T21:35:34Z</dcterms:created>
  <dcterms:modified xsi:type="dcterms:W3CDTF">2026-02-04T11:55:01Z</dcterms:modified>
</cp:coreProperties>
</file>