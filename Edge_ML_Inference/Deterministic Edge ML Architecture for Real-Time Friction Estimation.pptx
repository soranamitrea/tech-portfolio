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5B74"/>
    <a:srgbClr val="1CADE4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733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6918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1123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4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071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977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046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105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379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927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4692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523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2626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4394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863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787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4F8EE-DED4-4CD3-ABBF-0260700CD54E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6D38A72-38A1-46A6-9E5F-D7E2BB5BAD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156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5AF5CA-E93D-EB61-53CC-03DE03049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681" y="1786468"/>
            <a:ext cx="9268637" cy="1930948"/>
          </a:xfrm>
        </p:spPr>
        <p:txBody>
          <a:bodyPr>
            <a:normAutofit/>
          </a:bodyPr>
          <a:lstStyle/>
          <a:p>
            <a:pPr algn="ctr"/>
            <a:r>
              <a:rPr lang="de-DE" sz="3200" dirty="0" err="1">
                <a:latin typeface="Calibri"/>
              </a:rPr>
              <a:t>Deterministic</a:t>
            </a:r>
            <a:r>
              <a:rPr lang="de-DE" sz="3200" dirty="0">
                <a:latin typeface="Calibri"/>
              </a:rPr>
              <a:t> Edge ML Architecture </a:t>
            </a:r>
            <a:r>
              <a:rPr lang="de-DE" sz="3200" dirty="0" err="1">
                <a:latin typeface="Calibri"/>
              </a:rPr>
              <a:t>for</a:t>
            </a:r>
            <a:r>
              <a:rPr lang="de-DE" sz="3200" dirty="0">
                <a:latin typeface="Calibri"/>
              </a:rPr>
              <a:t> Real-Time </a:t>
            </a:r>
            <a:r>
              <a:rPr lang="de-DE" sz="3200" dirty="0" err="1">
                <a:latin typeface="Calibri"/>
              </a:rPr>
              <a:t>Friction</a:t>
            </a:r>
            <a:r>
              <a:rPr lang="de-DE" sz="3200" dirty="0">
                <a:latin typeface="Calibri"/>
              </a:rPr>
              <a:t> </a:t>
            </a:r>
            <a:r>
              <a:rPr lang="de-DE" sz="3200" dirty="0" err="1">
                <a:latin typeface="Calibri"/>
              </a:rPr>
              <a:t>Estimation</a:t>
            </a:r>
            <a:br>
              <a:rPr lang="de-DE" sz="3200" dirty="0">
                <a:latin typeface="Calibri"/>
              </a:rPr>
            </a:br>
            <a:r>
              <a:rPr lang="de-DE" sz="3200" dirty="0">
                <a:latin typeface="Calibri"/>
              </a:rPr>
              <a:t> </a:t>
            </a:r>
            <a:br>
              <a:rPr lang="de-DE" sz="3200" dirty="0">
                <a:latin typeface="Calibri"/>
              </a:rPr>
            </a:br>
            <a:r>
              <a:rPr lang="de-DE" sz="2200" i="1" dirty="0">
                <a:solidFill>
                  <a:srgbClr val="335B74"/>
                </a:solidFill>
                <a:latin typeface="Calibri"/>
              </a:rPr>
              <a:t>(</a:t>
            </a:r>
            <a:r>
              <a:rPr lang="el-GR" sz="2200" i="1" dirty="0">
                <a:solidFill>
                  <a:srgbClr val="335B74"/>
                </a:solidFill>
                <a:latin typeface="Calibri"/>
              </a:rPr>
              <a:t>μ</a:t>
            </a:r>
            <a:r>
              <a:rPr lang="de-DE" sz="2200" i="1" dirty="0">
                <a:solidFill>
                  <a:srgbClr val="335B74"/>
                </a:solidFill>
                <a:latin typeface="Calibri"/>
              </a:rPr>
              <a:t>_</a:t>
            </a:r>
            <a:r>
              <a:rPr lang="de-DE" sz="2200" i="1" dirty="0" err="1">
                <a:solidFill>
                  <a:srgbClr val="335B74"/>
                </a:solidFill>
                <a:latin typeface="Calibri"/>
              </a:rPr>
              <a:t>used</a:t>
            </a:r>
            <a:r>
              <a:rPr lang="de-DE" sz="2200" i="1" dirty="0">
                <a:solidFill>
                  <a:srgbClr val="335B74"/>
                </a:solidFill>
                <a:latin typeface="Calibri"/>
              </a:rPr>
              <a:t> </a:t>
            </a:r>
            <a:r>
              <a:rPr lang="de-DE" sz="2200" i="1" dirty="0" err="1">
                <a:solidFill>
                  <a:srgbClr val="335B74"/>
                </a:solidFill>
                <a:latin typeface="Calibri"/>
              </a:rPr>
              <a:t>proxy</a:t>
            </a:r>
            <a:r>
              <a:rPr lang="de-DE" sz="2200" i="1" dirty="0">
                <a:solidFill>
                  <a:srgbClr val="335B74"/>
                </a:solidFill>
                <a:latin typeface="Calibri"/>
              </a:rPr>
              <a:t> </a:t>
            </a:r>
            <a:r>
              <a:rPr lang="de-DE" sz="2200" i="1" dirty="0" err="1">
                <a:solidFill>
                  <a:srgbClr val="335B74"/>
                </a:solidFill>
                <a:latin typeface="Calibri"/>
              </a:rPr>
              <a:t>based</a:t>
            </a:r>
            <a:r>
              <a:rPr lang="de-DE" sz="2200" i="1" dirty="0">
                <a:solidFill>
                  <a:srgbClr val="335B74"/>
                </a:solidFill>
                <a:latin typeface="Calibri"/>
              </a:rPr>
              <a:t> on multi-sensor </a:t>
            </a:r>
            <a:r>
              <a:rPr lang="de-DE" sz="2200" i="1" dirty="0" err="1">
                <a:solidFill>
                  <a:srgbClr val="335B74"/>
                </a:solidFill>
                <a:latin typeface="Calibri"/>
              </a:rPr>
              <a:t>vehicle</a:t>
            </a:r>
            <a:r>
              <a:rPr lang="de-DE" sz="2200" i="1" dirty="0">
                <a:solidFill>
                  <a:srgbClr val="335B74"/>
                </a:solidFill>
                <a:latin typeface="Calibri"/>
              </a:rPr>
              <a:t> </a:t>
            </a:r>
            <a:r>
              <a:rPr lang="de-DE" sz="2200" i="1" dirty="0" err="1">
                <a:solidFill>
                  <a:srgbClr val="335B74"/>
                </a:solidFill>
                <a:latin typeface="Calibri"/>
              </a:rPr>
              <a:t>data</a:t>
            </a:r>
            <a:r>
              <a:rPr lang="de-DE" sz="2200" i="1" dirty="0">
                <a:solidFill>
                  <a:srgbClr val="335B74"/>
                </a:solidFill>
                <a:latin typeface="Calibri"/>
              </a:rPr>
              <a:t>)</a:t>
            </a:r>
            <a:endParaRPr lang="en-US" sz="2200" i="1" dirty="0">
              <a:solidFill>
                <a:srgbClr val="335B74"/>
              </a:solidFill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6227AD6-5D5F-D142-C5F5-A90D11C91DCD}"/>
              </a:ext>
            </a:extLst>
          </p:cNvPr>
          <p:cNvSpPr txBox="1">
            <a:spLocks/>
          </p:cNvSpPr>
          <p:nvPr/>
        </p:nvSpPr>
        <p:spPr>
          <a:xfrm>
            <a:off x="-224826" y="4802603"/>
            <a:ext cx="4538606" cy="12543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Sorana Mitrea</a:t>
            </a:r>
          </a:p>
        </p:txBody>
      </p:sp>
    </p:spTree>
    <p:extLst>
      <p:ext uri="{BB962C8B-B14F-4D97-AF65-F5344CB8AC3E}">
        <p14:creationId xmlns:p14="http://schemas.microsoft.com/office/powerpoint/2010/main" val="324958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1">
            <a:extLst>
              <a:ext uri="{FF2B5EF4-FFF2-40B4-BE49-F238E27FC236}">
                <a16:creationId xmlns:a16="http://schemas.microsoft.com/office/drawing/2014/main" id="{4E51DEC1-D5BA-A83F-29B9-36C16D9D98D9}"/>
              </a:ext>
            </a:extLst>
          </p:cNvPr>
          <p:cNvSpPr txBox="1">
            <a:spLocks/>
          </p:cNvSpPr>
          <p:nvPr/>
        </p:nvSpPr>
        <p:spPr>
          <a:xfrm>
            <a:off x="339420" y="300886"/>
            <a:ext cx="4063247" cy="38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dirty="0">
                <a:solidFill>
                  <a:srgbClr val="335B74"/>
                </a:solidFill>
                <a:latin typeface="Bosch Office Sans" pitchFamily="2" charset="0"/>
              </a:rPr>
              <a:t>Systemarchitektur (Online)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687D549-304F-13BD-EB1D-060F5E4C95F3}"/>
              </a:ext>
            </a:extLst>
          </p:cNvPr>
          <p:cNvSpPr/>
          <p:nvPr/>
        </p:nvSpPr>
        <p:spPr>
          <a:xfrm>
            <a:off x="4857532" y="94728"/>
            <a:ext cx="4531654" cy="937381"/>
          </a:xfrm>
          <a:prstGeom prst="roundRect">
            <a:avLst/>
          </a:prstGeom>
          <a:noFill/>
          <a:ln w="9525" cap="flat" cmpd="sng" algn="ctr">
            <a:solidFill>
              <a:srgbClr val="335B74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Sensoren: </a:t>
            </a:r>
            <a:r>
              <a:rPr kumimoji="0" lang="de-DE" sz="1050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Multi-Modal Sensor Input Layer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IMU (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a_long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, ay, az,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gyro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) @ 100 Hz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OBD2 (v, RPM,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Throttle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) @ 100 Hz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(optional)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Camera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(Vision) @ 30 FPS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Klima (T, Humidity, p) @ 1 Hz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Zeitstempel Synchronisierung (UTC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based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1D1E5123-9FDC-A97A-BBD4-B9B3FB56F7CB}"/>
              </a:ext>
            </a:extLst>
          </p:cNvPr>
          <p:cNvSpPr/>
          <p:nvPr/>
        </p:nvSpPr>
        <p:spPr>
          <a:xfrm>
            <a:off x="4863274" y="1159773"/>
            <a:ext cx="4531654" cy="889004"/>
          </a:xfrm>
          <a:prstGeom prst="roundRect">
            <a:avLst/>
          </a:prstGeom>
          <a:noFill/>
          <a:ln w="9525" cap="flat" cmpd="sng" algn="ctr">
            <a:solidFill>
              <a:srgbClr val="335B74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Sample </a:t>
            </a:r>
            <a:r>
              <a:rPr kumimoji="0" lang="de-DE" sz="1200" b="1" i="0" u="none" strike="noStrike" kern="0" cap="none" spc="0" normalizeH="0" baseline="0" noProof="0" dirty="0" err="1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based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Buffer: </a:t>
            </a:r>
            <a:r>
              <a:rPr kumimoji="0" lang="de-DE" sz="1050" i="0" u="none" strike="noStrike" kern="0" cap="none" spc="0" normalizeH="0" baseline="0" noProof="0" dirty="0" err="1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Deterministic</a:t>
            </a:r>
            <a:r>
              <a:rPr kumimoji="0" lang="de-DE" sz="1050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Sample-</a:t>
            </a:r>
            <a:r>
              <a:rPr kumimoji="0" lang="de-DE" sz="1050" i="0" u="none" strike="noStrike" kern="0" cap="none" spc="0" normalizeH="0" baseline="0" noProof="0" dirty="0" err="1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based</a:t>
            </a:r>
            <a:r>
              <a:rPr kumimoji="0" lang="de-DE" sz="1050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Data Buffer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Fixed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sampling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Interval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(100ms)            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Resampling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asynchroner Sensoren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Ring Buffer Architektur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Plausibilitätschecks &amp;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Outlier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Rejection</a:t>
            </a:r>
            <a:endParaRPr lang="de-DE" sz="900" kern="0" dirty="0">
              <a:solidFill>
                <a:schemeClr val="bg1">
                  <a:lumMod val="50000"/>
                </a:schemeClr>
              </a:solidFill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Worst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-Case-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Latency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-Kontrolle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0DAD6833-1D31-F1FC-8493-DCCFCCBE63B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7123359" y="1032109"/>
            <a:ext cx="5742" cy="127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7BECCF97-2AF3-6596-C8D7-0F00513E62B4}"/>
              </a:ext>
            </a:extLst>
          </p:cNvPr>
          <p:cNvSpPr/>
          <p:nvPr/>
        </p:nvSpPr>
        <p:spPr>
          <a:xfrm>
            <a:off x="4863274" y="2173855"/>
            <a:ext cx="4531654" cy="874036"/>
          </a:xfrm>
          <a:prstGeom prst="roundRect">
            <a:avLst/>
          </a:prstGeom>
          <a:noFill/>
          <a:ln w="9525" cap="flat" cmpd="sng" algn="ctr">
            <a:solidFill>
              <a:srgbClr val="335B74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Feature </a:t>
            </a:r>
            <a:r>
              <a:rPr kumimoji="0" lang="de-DE" sz="1200" b="1" i="0" u="none" strike="noStrike" kern="0" cap="none" spc="0" normalizeH="0" baseline="0" noProof="0" dirty="0" err="1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Extraction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: </a:t>
            </a:r>
            <a:r>
              <a:rPr kumimoji="0" lang="de-DE" sz="1050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Real-Time Feature Engineering Layer</a:t>
            </a:r>
            <a:endParaRPr kumimoji="0" lang="de-DE" sz="1200" b="1" i="0" u="none" strike="noStrike" kern="0" cap="none" spc="0" normalizeH="0" baseline="0" noProof="0" dirty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Ableitung von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Jerk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(da/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dt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RMS-Berechnung über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Sliding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Window</a:t>
            </a:r>
            <a:endParaRPr lang="de-DE" sz="900" kern="0" dirty="0">
              <a:solidFill>
                <a:schemeClr val="bg1">
                  <a:lumMod val="50000"/>
                </a:schemeClr>
              </a:solidFill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Normalisierung (Min-Max/ Z-Score)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Feature-Vektor Dimension: n=4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Laufzeit pro Zyklus: X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ms</a:t>
            </a:r>
            <a:endParaRPr lang="de-DE" sz="900" kern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D58813A7-39EF-ED2C-147A-C81F0EC207AB}"/>
              </a:ext>
            </a:extLst>
          </p:cNvPr>
          <p:cNvSpPr/>
          <p:nvPr/>
        </p:nvSpPr>
        <p:spPr>
          <a:xfrm>
            <a:off x="4857533" y="3172969"/>
            <a:ext cx="4540467" cy="987035"/>
          </a:xfrm>
          <a:prstGeom prst="roundRect">
            <a:avLst/>
          </a:prstGeom>
          <a:noFill/>
          <a:ln w="9525" cap="flat" cmpd="sng" algn="ctr">
            <a:solidFill>
              <a:srgbClr val="335B74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200" b="1" kern="0" dirty="0">
                <a:solidFill>
                  <a:srgbClr val="335B74"/>
                </a:solidFill>
                <a:latin typeface="Bosch Office Sans"/>
              </a:rPr>
              <a:t>ML Model Layer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: </a:t>
            </a:r>
            <a:r>
              <a:rPr lang="de-DE" sz="1050" kern="0" dirty="0" err="1">
                <a:solidFill>
                  <a:srgbClr val="335B74"/>
                </a:solidFill>
                <a:latin typeface="Bosch Office Sans"/>
              </a:rPr>
              <a:t>Deterministic</a:t>
            </a:r>
            <a:r>
              <a:rPr lang="de-DE" sz="1050" kern="0" dirty="0">
                <a:solidFill>
                  <a:srgbClr val="335B74"/>
                </a:solidFill>
                <a:latin typeface="Bosch Office Sans"/>
              </a:rPr>
              <a:t> Linear Model</a:t>
            </a:r>
            <a:endParaRPr kumimoji="0" lang="de-DE" sz="1200" i="0" u="none" strike="noStrike" kern="0" cap="none" spc="0" normalizeH="0" baseline="0" noProof="0" dirty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Model: Ridge Regression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Feature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dimension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: n = 4</a:t>
            </a:r>
            <a:endParaRPr lang="de-DE" sz="900" kern="0" dirty="0">
              <a:solidFill>
                <a:schemeClr val="bg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Training: LORO-CV (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Leave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-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One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-Run-Out)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Regularization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parameter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: a = 1.0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Offline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validation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 RMSE (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avg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): 1.23e-4, Offline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validation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 R</a:t>
            </a:r>
            <a:r>
              <a:rPr lang="de-DE" sz="900" kern="0" baseline="3000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2 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(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avg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) 0.999998</a:t>
            </a:r>
            <a:endParaRPr lang="de-DE" sz="900" kern="0" baseline="30000" dirty="0">
              <a:solidFill>
                <a:schemeClr val="bg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Model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size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: ~ 10 kB ;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Inference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complexity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: O(n)</a:t>
            </a:r>
            <a:endParaRPr lang="de-DE" sz="900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E505F204-5594-3475-E9EF-9F138850702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7127767" y="3047891"/>
            <a:ext cx="1334" cy="125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6EEC0B6-D2B9-37B3-FD6E-989198F79405}"/>
              </a:ext>
            </a:extLst>
          </p:cNvPr>
          <p:cNvSpPr/>
          <p:nvPr/>
        </p:nvSpPr>
        <p:spPr>
          <a:xfrm>
            <a:off x="4854462" y="4285082"/>
            <a:ext cx="4540467" cy="874036"/>
          </a:xfrm>
          <a:prstGeom prst="roundRect">
            <a:avLst/>
          </a:prstGeom>
          <a:noFill/>
          <a:ln w="9525" cap="flat" cmpd="sng" algn="ctr">
            <a:solidFill>
              <a:srgbClr val="335B74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Edge </a:t>
            </a:r>
            <a:r>
              <a:rPr kumimoji="0" lang="de-DE" sz="1200" b="1" i="0" u="none" strike="noStrike" kern="0" cap="none" spc="0" normalizeH="0" baseline="0" noProof="0" dirty="0" err="1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Inference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:</a:t>
            </a:r>
            <a:r>
              <a:rPr kumimoji="0" lang="de-DE" sz="1050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CPU </a:t>
            </a:r>
            <a:r>
              <a:rPr kumimoji="0" lang="de-DE" sz="1050" i="0" u="none" strike="noStrike" kern="0" cap="none" spc="0" normalizeH="0" baseline="0" noProof="0" dirty="0" err="1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based</a:t>
            </a:r>
            <a:r>
              <a:rPr kumimoji="0" lang="de-DE" sz="1050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de-DE" sz="1050" i="0" u="none" strike="noStrike" kern="0" cap="none" spc="0" normalizeH="0" baseline="0" noProof="0" dirty="0" err="1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deployment</a:t>
            </a:r>
            <a:endParaRPr kumimoji="0" lang="de-DE" sz="1200" b="1" i="0" u="none" strike="noStrike" kern="0" cap="none" spc="0" normalizeH="0" baseline="0" noProof="0" dirty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Platform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Raspbery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Pi5 (ARM Cortex-A76)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Execution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mode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: CPU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based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linear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inference</a:t>
            </a:r>
            <a:endParaRPr lang="de-DE" sz="900" kern="0" dirty="0">
              <a:solidFill>
                <a:schemeClr val="bg1">
                  <a:lumMod val="50000"/>
                </a:schemeClr>
              </a:solidFill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Fixed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control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cycle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: 100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ms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(10 Hz)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Deterministic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sample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based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loop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Real-time </a:t>
            </a:r>
            <a:r>
              <a:rPr lang="el-GR" sz="900" kern="0" dirty="0">
                <a:solidFill>
                  <a:schemeClr val="bg1">
                    <a:lumMod val="50000"/>
                  </a:schemeClr>
                </a:solidFill>
              </a:rPr>
              <a:t>μ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_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used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estimation</a:t>
            </a:r>
            <a:endParaRPr lang="de-DE" sz="900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55FE306-6AAB-FBF0-A8CE-3283B6E06401}"/>
              </a:ext>
            </a:extLst>
          </p:cNvPr>
          <p:cNvSpPr/>
          <p:nvPr/>
        </p:nvSpPr>
        <p:spPr>
          <a:xfrm>
            <a:off x="4863273" y="5282590"/>
            <a:ext cx="4531655" cy="718156"/>
          </a:xfrm>
          <a:prstGeom prst="roundRect">
            <a:avLst/>
          </a:prstGeom>
          <a:noFill/>
          <a:ln w="9525" cap="flat" cmpd="sng" algn="ctr">
            <a:solidFill>
              <a:srgbClr val="335B74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l-GR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μ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_</a:t>
            </a:r>
            <a:r>
              <a:rPr kumimoji="0" lang="de-DE" sz="1200" b="1" i="0" u="none" strike="noStrike" kern="0" cap="none" spc="0" normalizeH="0" baseline="0" noProof="0" dirty="0" err="1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pred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: </a:t>
            </a:r>
            <a:r>
              <a:rPr kumimoji="0" lang="de-DE" sz="1050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Real-Time </a:t>
            </a:r>
            <a:r>
              <a:rPr lang="de-DE" sz="1050" kern="0" dirty="0" err="1">
                <a:solidFill>
                  <a:srgbClr val="335B74"/>
                </a:solidFill>
                <a:latin typeface="Bosch Office Sans"/>
              </a:rPr>
              <a:t>μ_used</a:t>
            </a:r>
            <a:r>
              <a:rPr lang="de-DE" sz="1050" kern="0" dirty="0">
                <a:solidFill>
                  <a:srgbClr val="335B74"/>
                </a:solidFill>
                <a:latin typeface="Bosch Office Sans"/>
              </a:rPr>
              <a:t> </a:t>
            </a:r>
            <a:r>
              <a:rPr lang="de-DE" sz="1050" kern="0" dirty="0" err="1">
                <a:solidFill>
                  <a:srgbClr val="335B74"/>
                </a:solidFill>
                <a:latin typeface="Bosch Office Sans"/>
              </a:rPr>
              <a:t>Estimation</a:t>
            </a:r>
            <a:endParaRPr kumimoji="0" lang="de-DE" sz="1200" b="1" i="0" u="none" strike="noStrike" kern="0" cap="none" spc="0" normalizeH="0" baseline="0" noProof="0" dirty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Continuous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μ_used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prediction</a:t>
            </a:r>
            <a:endParaRPr lang="de-DE" sz="900" kern="0" dirty="0">
              <a:solidFill>
                <a:schemeClr val="bg1">
                  <a:lumMod val="50000"/>
                </a:schemeClr>
              </a:solidFill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Update Rate: 10 Hz</a:t>
            </a: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Deterministic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output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per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control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cycle</a:t>
            </a:r>
            <a:endParaRPr lang="de-DE" sz="900" kern="0" dirty="0">
              <a:solidFill>
                <a:schemeClr val="bg1">
                  <a:lumMod val="50000"/>
                </a:schemeClr>
              </a:solidFill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Based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on longitudinal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vehicle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dynamics</a:t>
            </a:r>
            <a:endParaRPr lang="de-DE" sz="900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E6725A2B-0132-2B13-533B-EC7FA51BDCA3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7124696" y="5159118"/>
            <a:ext cx="4405" cy="123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D227B791-DFF5-41A8-5EB6-6133267541A6}"/>
              </a:ext>
            </a:extLst>
          </p:cNvPr>
          <p:cNvSpPr/>
          <p:nvPr/>
        </p:nvSpPr>
        <p:spPr>
          <a:xfrm>
            <a:off x="4863274" y="6124218"/>
            <a:ext cx="4531654" cy="524454"/>
          </a:xfrm>
          <a:prstGeom prst="roundRect">
            <a:avLst/>
          </a:prstGeom>
          <a:noFill/>
          <a:ln w="9525" cap="flat" cmpd="sng" algn="ctr">
            <a:solidFill>
              <a:srgbClr val="335B74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1" i="0" u="none" strike="noStrike" kern="0" cap="none" spc="0" normalizeH="0" baseline="0" noProof="0" dirty="0" err="1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Logging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: </a:t>
            </a:r>
            <a:r>
              <a:rPr kumimoji="0" lang="de-DE" sz="1050" i="0" u="none" strike="noStrike" kern="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Bosch Office Sans" pitchFamily="2" charset="0"/>
              </a:rPr>
              <a:t>Embedded Performance &amp; Ressource Monitoring</a:t>
            </a:r>
            <a:endParaRPr kumimoji="0" lang="de-DE" sz="1200" b="1" i="0" u="none" strike="noStrike" kern="0" cap="none" spc="0" normalizeH="0" baseline="0" noProof="0" dirty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Latency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logging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, CPU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utilization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, RAM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usage</a:t>
            </a:r>
            <a:endParaRPr lang="de-DE" sz="900" kern="0" dirty="0">
              <a:solidFill>
                <a:schemeClr val="bg1">
                  <a:lumMod val="50000"/>
                </a:schemeClr>
              </a:solidFill>
            </a:endParaRPr>
          </a:p>
          <a:p>
            <a:pPr marL="171450" marR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Temperature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monitoring</a:t>
            </a:r>
            <a:r>
              <a:rPr lang="de-DE" sz="900" kern="0" dirty="0">
                <a:solidFill>
                  <a:schemeClr val="bg1">
                    <a:lumMod val="50000"/>
                  </a:schemeClr>
                </a:solidFill>
              </a:rPr>
              <a:t>, Power </a:t>
            </a:r>
            <a:r>
              <a:rPr lang="de-DE" sz="900" kern="0" dirty="0" err="1">
                <a:solidFill>
                  <a:schemeClr val="bg1">
                    <a:lumMod val="50000"/>
                  </a:schemeClr>
                </a:solidFill>
              </a:rPr>
              <a:t>estimation</a:t>
            </a:r>
            <a:endParaRPr lang="de-DE" sz="900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F50558FF-4C28-6657-5EC2-915503637E24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>
            <a:off x="7129101" y="2048777"/>
            <a:ext cx="0" cy="125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8F6C08C3-AB71-28BF-A5B5-DB6C817D8722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flipH="1">
            <a:off x="7124696" y="4160004"/>
            <a:ext cx="3071" cy="125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AB99EBA8-4FCB-A566-72F8-9264003620B6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>
            <a:off x="7129101" y="6000746"/>
            <a:ext cx="0" cy="123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094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6058AE-B5B5-CE22-0B19-4AAD19242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45" y="1540932"/>
            <a:ext cx="6300788" cy="4267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 dirty="0"/>
              <a:t>Cycle </a:t>
            </a:r>
            <a:r>
              <a:rPr lang="de-DE" sz="1600" b="1" dirty="0" err="1"/>
              <a:t>definition</a:t>
            </a:r>
            <a:endParaRPr lang="de-DE" sz="1600" b="1" dirty="0"/>
          </a:p>
          <a:p>
            <a:pPr lvl="2"/>
            <a:r>
              <a:rPr lang="de-DE" sz="1200" dirty="0"/>
              <a:t>Fixed </a:t>
            </a:r>
            <a:r>
              <a:rPr lang="de-DE" sz="1200" dirty="0" err="1"/>
              <a:t>control</a:t>
            </a:r>
            <a:r>
              <a:rPr lang="de-DE" sz="1200" dirty="0"/>
              <a:t> </a:t>
            </a:r>
            <a:r>
              <a:rPr lang="de-DE" sz="1200" dirty="0" err="1"/>
              <a:t>cycle</a:t>
            </a:r>
            <a:r>
              <a:rPr lang="de-DE" sz="1200" dirty="0"/>
              <a:t>: 10 </a:t>
            </a:r>
            <a:r>
              <a:rPr lang="de-DE" sz="1200" dirty="0" err="1"/>
              <a:t>ms</a:t>
            </a:r>
            <a:r>
              <a:rPr lang="de-DE" sz="1200" dirty="0"/>
              <a:t> (10 Hz)</a:t>
            </a:r>
          </a:p>
          <a:p>
            <a:pPr lvl="2"/>
            <a:r>
              <a:rPr lang="de-DE" sz="1200" dirty="0" err="1"/>
              <a:t>Deterministic</a:t>
            </a:r>
            <a:r>
              <a:rPr lang="de-DE" sz="1200" dirty="0"/>
              <a:t> multi-sensor </a:t>
            </a:r>
            <a:r>
              <a:rPr lang="de-DE" sz="1200" dirty="0" err="1"/>
              <a:t>sampling</a:t>
            </a:r>
            <a:endParaRPr lang="de-DE" sz="1200" dirty="0"/>
          </a:p>
          <a:p>
            <a:pPr lvl="2"/>
            <a:r>
              <a:rPr lang="de-DE" sz="1200" dirty="0" err="1"/>
              <a:t>Worst</a:t>
            </a:r>
            <a:r>
              <a:rPr lang="de-DE" sz="1200" dirty="0"/>
              <a:t> </a:t>
            </a:r>
            <a:r>
              <a:rPr lang="de-DE" sz="1200" dirty="0" err="1"/>
              <a:t>case</a:t>
            </a:r>
            <a:r>
              <a:rPr lang="de-DE" sz="1200" dirty="0"/>
              <a:t> </a:t>
            </a:r>
            <a:r>
              <a:rPr lang="de-DE" sz="1200" dirty="0" err="1"/>
              <a:t>latency</a:t>
            </a:r>
            <a:r>
              <a:rPr lang="de-DE" sz="1200" dirty="0"/>
              <a:t> </a:t>
            </a:r>
            <a:r>
              <a:rPr lang="de-DE" sz="1200" dirty="0" err="1"/>
              <a:t>bounded</a:t>
            </a:r>
            <a:r>
              <a:rPr lang="de-DE" sz="1200" dirty="0"/>
              <a:t> (&lt; 10 </a:t>
            </a:r>
            <a:r>
              <a:rPr lang="de-DE" sz="1200" dirty="0" err="1"/>
              <a:t>ms</a:t>
            </a:r>
            <a:r>
              <a:rPr lang="de-DE" sz="1200" dirty="0"/>
              <a:t>)</a:t>
            </a:r>
          </a:p>
          <a:p>
            <a:pPr lvl="2"/>
            <a:r>
              <a:rPr lang="de-DE" sz="1200" dirty="0" err="1"/>
              <a:t>Closed</a:t>
            </a:r>
            <a:r>
              <a:rPr lang="de-DE" sz="1200" dirty="0"/>
              <a:t> form linear </a:t>
            </a:r>
            <a:r>
              <a:rPr lang="de-DE" sz="1200" dirty="0" err="1"/>
              <a:t>inference</a:t>
            </a:r>
            <a:endParaRPr lang="de-DE" sz="1200" dirty="0"/>
          </a:p>
          <a:p>
            <a:pPr lvl="1"/>
            <a:endParaRPr lang="de-DE" sz="1200" dirty="0"/>
          </a:p>
          <a:p>
            <a:pPr marL="0" indent="0">
              <a:buNone/>
            </a:pPr>
            <a:r>
              <a:rPr lang="de-DE" sz="1600" b="1" dirty="0"/>
              <a:t>Online Processing </a:t>
            </a:r>
            <a:r>
              <a:rPr lang="de-DE" sz="1600" b="1" dirty="0" err="1"/>
              <a:t>Steps</a:t>
            </a:r>
            <a:r>
              <a:rPr lang="de-DE" sz="1600" b="1" dirty="0"/>
              <a:t> (pro Zyklus)</a:t>
            </a:r>
          </a:p>
          <a:p>
            <a:pPr lvl="2">
              <a:buAutoNum type="arabicPeriod"/>
            </a:pPr>
            <a:r>
              <a:rPr lang="de-DE" sz="1200" dirty="0"/>
              <a:t>Sensor </a:t>
            </a:r>
            <a:r>
              <a:rPr lang="de-DE" sz="1200" dirty="0" err="1"/>
              <a:t>read</a:t>
            </a:r>
            <a:r>
              <a:rPr lang="de-DE" sz="1200" dirty="0"/>
              <a:t> (IMU, OBD2, BME, </a:t>
            </a:r>
            <a:r>
              <a:rPr lang="de-DE" sz="1200" dirty="0" err="1"/>
              <a:t>RacheChronoPro</a:t>
            </a:r>
            <a:r>
              <a:rPr lang="de-DE" sz="1200" dirty="0"/>
              <a:t>)</a:t>
            </a:r>
          </a:p>
          <a:p>
            <a:pPr lvl="2">
              <a:buAutoNum type="arabicPeriod"/>
            </a:pPr>
            <a:r>
              <a:rPr lang="de-DE" sz="1200" dirty="0" err="1"/>
              <a:t>Resampling</a:t>
            </a:r>
            <a:r>
              <a:rPr lang="de-DE" sz="1200" dirty="0"/>
              <a:t> &amp; </a:t>
            </a:r>
            <a:r>
              <a:rPr lang="de-DE" sz="1200" dirty="0" err="1"/>
              <a:t>buffer</a:t>
            </a:r>
            <a:r>
              <a:rPr lang="de-DE" sz="1200" dirty="0"/>
              <a:t> update</a:t>
            </a:r>
          </a:p>
          <a:p>
            <a:pPr lvl="2">
              <a:buAutoNum type="arabicPeriod"/>
            </a:pPr>
            <a:r>
              <a:rPr lang="de-DE" sz="1200" dirty="0"/>
              <a:t>Feature </a:t>
            </a:r>
            <a:r>
              <a:rPr lang="de-DE" sz="1200" dirty="0" err="1"/>
              <a:t>computation</a:t>
            </a:r>
            <a:r>
              <a:rPr lang="de-DE" sz="1200" dirty="0"/>
              <a:t> (</a:t>
            </a:r>
            <a:r>
              <a:rPr lang="de-DE" sz="1200" dirty="0" err="1"/>
              <a:t>jerk</a:t>
            </a:r>
            <a:r>
              <a:rPr lang="de-DE" sz="1200" dirty="0"/>
              <a:t>, RMS, </a:t>
            </a:r>
            <a:r>
              <a:rPr lang="de-DE" sz="1200" dirty="0" err="1"/>
              <a:t>normalization</a:t>
            </a:r>
            <a:r>
              <a:rPr lang="de-DE" sz="1200" dirty="0"/>
              <a:t>)</a:t>
            </a:r>
          </a:p>
          <a:p>
            <a:pPr lvl="2">
              <a:buAutoNum type="arabicPeriod"/>
            </a:pPr>
            <a:r>
              <a:rPr lang="de-DE" sz="1200" dirty="0"/>
              <a:t>Linear ML </a:t>
            </a:r>
            <a:r>
              <a:rPr lang="de-DE" sz="1200" dirty="0" err="1"/>
              <a:t>inference</a:t>
            </a:r>
            <a:r>
              <a:rPr lang="de-DE" sz="1200" dirty="0"/>
              <a:t> (Ridge </a:t>
            </a:r>
            <a:r>
              <a:rPr lang="de-DE" sz="1200" dirty="0" err="1"/>
              <a:t>regression</a:t>
            </a:r>
            <a:r>
              <a:rPr lang="de-DE" sz="1200" dirty="0"/>
              <a:t>, CPU)</a:t>
            </a:r>
          </a:p>
          <a:p>
            <a:pPr lvl="2">
              <a:buAutoNum type="arabicPeriod"/>
            </a:pPr>
            <a:r>
              <a:rPr lang="el-GR" sz="1200" dirty="0"/>
              <a:t>μ</a:t>
            </a:r>
            <a:r>
              <a:rPr lang="de-DE" sz="1200" dirty="0"/>
              <a:t>_</a:t>
            </a:r>
            <a:r>
              <a:rPr lang="de-DE" sz="1200" dirty="0" err="1"/>
              <a:t>pred</a:t>
            </a:r>
            <a:r>
              <a:rPr lang="de-DE" sz="1200" dirty="0"/>
              <a:t> </a:t>
            </a:r>
            <a:r>
              <a:rPr lang="de-DE" sz="1200" dirty="0" err="1"/>
              <a:t>output</a:t>
            </a:r>
            <a:r>
              <a:rPr lang="de-DE" sz="1200" dirty="0"/>
              <a:t> update</a:t>
            </a:r>
          </a:p>
          <a:p>
            <a:pPr lvl="2">
              <a:buAutoNum type="arabicPeriod"/>
            </a:pPr>
            <a:r>
              <a:rPr lang="de-DE" sz="1200" dirty="0"/>
              <a:t>Performance </a:t>
            </a:r>
            <a:r>
              <a:rPr lang="de-DE" sz="1200" dirty="0" err="1"/>
              <a:t>logging</a:t>
            </a:r>
            <a:endParaRPr lang="de-DE" sz="1200" dirty="0"/>
          </a:p>
          <a:p>
            <a:pPr marL="914400" lvl="2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7B4EF0D5-5726-E9A8-046A-7CF57168358E}"/>
              </a:ext>
            </a:extLst>
          </p:cNvPr>
          <p:cNvSpPr txBox="1">
            <a:spLocks/>
          </p:cNvSpPr>
          <p:nvPr/>
        </p:nvSpPr>
        <p:spPr>
          <a:xfrm>
            <a:off x="339420" y="300886"/>
            <a:ext cx="5215560" cy="38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dirty="0" err="1">
                <a:solidFill>
                  <a:srgbClr val="335B74"/>
                </a:solidFill>
                <a:latin typeface="Bosch Office Sans" pitchFamily="2" charset="0"/>
              </a:rPr>
              <a:t>Deterministic</a:t>
            </a:r>
            <a:r>
              <a:rPr lang="de-DE" sz="2400" dirty="0">
                <a:solidFill>
                  <a:srgbClr val="335B74"/>
                </a:solidFill>
                <a:latin typeface="Bosch Office Sans" pitchFamily="2" charset="0"/>
              </a:rPr>
              <a:t> Online </a:t>
            </a:r>
            <a:r>
              <a:rPr lang="de-DE" sz="2400" dirty="0" err="1">
                <a:solidFill>
                  <a:srgbClr val="335B74"/>
                </a:solidFill>
                <a:latin typeface="Bosch Office Sans" pitchFamily="2" charset="0"/>
              </a:rPr>
              <a:t>Inference</a:t>
            </a:r>
            <a:r>
              <a:rPr lang="de-DE" sz="2400" dirty="0">
                <a:solidFill>
                  <a:srgbClr val="335B74"/>
                </a:solidFill>
                <a:latin typeface="Bosch Office Sans" pitchFamily="2" charset="0"/>
              </a:rPr>
              <a:t> Loop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42CB01B-B4AA-48E1-95A5-87CE0AB45AF8}"/>
              </a:ext>
            </a:extLst>
          </p:cNvPr>
          <p:cNvSpPr txBox="1">
            <a:spLocks/>
          </p:cNvSpPr>
          <p:nvPr/>
        </p:nvSpPr>
        <p:spPr>
          <a:xfrm>
            <a:off x="7137400" y="1244598"/>
            <a:ext cx="5054600" cy="456353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Font typeface="Wingdings 3" charset="2"/>
              <a:buNone/>
            </a:pPr>
            <a:endParaRPr lang="de-DE" dirty="0"/>
          </a:p>
          <a:p>
            <a:pPr marL="0" indent="0">
              <a:buNone/>
            </a:pPr>
            <a:r>
              <a:rPr lang="de-DE" sz="1700" b="1" dirty="0"/>
              <a:t>Time </a:t>
            </a:r>
            <a:r>
              <a:rPr lang="de-DE" sz="1700" b="1" dirty="0" err="1"/>
              <a:t>budget</a:t>
            </a:r>
            <a:endParaRPr lang="de-DE" sz="1700" b="1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lvl="2"/>
            <a:endParaRPr lang="de-DE" dirty="0"/>
          </a:p>
          <a:p>
            <a:endParaRPr lang="de-DE" sz="1600" dirty="0"/>
          </a:p>
          <a:p>
            <a:pPr marL="0" indent="0">
              <a:buNone/>
            </a:pPr>
            <a:endParaRPr lang="de-DE" sz="1700" b="1" dirty="0"/>
          </a:p>
          <a:p>
            <a:pPr marL="0" indent="0">
              <a:buNone/>
            </a:pPr>
            <a:r>
              <a:rPr lang="de-DE" sz="1700" b="1" dirty="0" err="1"/>
              <a:t>Determinism</a:t>
            </a:r>
            <a:r>
              <a:rPr lang="de-DE" sz="1700" b="1" dirty="0"/>
              <a:t> </a:t>
            </a:r>
            <a:r>
              <a:rPr lang="de-DE" sz="1700" b="1" dirty="0" err="1"/>
              <a:t>Strategy</a:t>
            </a:r>
            <a:endParaRPr lang="de-DE" sz="1700" b="1" dirty="0"/>
          </a:p>
          <a:p>
            <a:pPr lvl="2"/>
            <a:r>
              <a:rPr lang="de-DE" dirty="0"/>
              <a:t>Fixing 100 Hz </a:t>
            </a:r>
            <a:r>
              <a:rPr lang="de-DE" dirty="0" err="1"/>
              <a:t>scheduling</a:t>
            </a:r>
            <a:endParaRPr lang="de-DE" dirty="0"/>
          </a:p>
          <a:p>
            <a:pPr lvl="2"/>
            <a:r>
              <a:rPr lang="de-DE" dirty="0" err="1"/>
              <a:t>Pre-allocated</a:t>
            </a:r>
            <a:r>
              <a:rPr lang="de-DE" dirty="0"/>
              <a:t> </a:t>
            </a:r>
            <a:r>
              <a:rPr lang="de-DE" dirty="0" err="1"/>
              <a:t>memory</a:t>
            </a:r>
            <a:endParaRPr lang="de-DE" dirty="0"/>
          </a:p>
          <a:p>
            <a:pPr lvl="2"/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dynamic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loading</a:t>
            </a:r>
            <a:endParaRPr lang="de-DE" dirty="0"/>
          </a:p>
          <a:p>
            <a:pPr lvl="2"/>
            <a:r>
              <a:rPr lang="de-DE" dirty="0"/>
              <a:t>Ring-</a:t>
            </a:r>
            <a:r>
              <a:rPr lang="de-DE" dirty="0" err="1"/>
              <a:t>buffer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sendor</a:t>
            </a:r>
            <a:r>
              <a:rPr lang="de-DE" dirty="0"/>
              <a:t> </a:t>
            </a:r>
            <a:r>
              <a:rPr lang="de-DE" dirty="0" err="1"/>
              <a:t>handling</a:t>
            </a:r>
            <a:endParaRPr lang="de-DE" dirty="0"/>
          </a:p>
          <a:p>
            <a:pPr lvl="2"/>
            <a:r>
              <a:rPr lang="de-DE" dirty="0" err="1"/>
              <a:t>Closed</a:t>
            </a:r>
            <a:r>
              <a:rPr lang="de-DE" dirty="0"/>
              <a:t>-form Ridge </a:t>
            </a:r>
            <a:r>
              <a:rPr lang="de-DE" dirty="0" err="1"/>
              <a:t>regression</a:t>
            </a:r>
            <a:r>
              <a:rPr lang="de-DE" dirty="0"/>
              <a:t> </a:t>
            </a:r>
            <a:r>
              <a:rPr lang="de-DE" dirty="0" err="1"/>
              <a:t>ensures</a:t>
            </a:r>
            <a:r>
              <a:rPr lang="de-DE" dirty="0"/>
              <a:t> </a:t>
            </a:r>
            <a:r>
              <a:rPr lang="de-DE" dirty="0" err="1"/>
              <a:t>bounded</a:t>
            </a:r>
            <a:r>
              <a:rPr lang="de-DE" dirty="0"/>
              <a:t> </a:t>
            </a:r>
            <a:r>
              <a:rPr lang="de-DE" dirty="0" err="1"/>
              <a:t>execution</a:t>
            </a:r>
            <a:r>
              <a:rPr lang="de-DE" dirty="0"/>
              <a:t> time</a:t>
            </a:r>
          </a:p>
          <a:p>
            <a:pPr marL="0" indent="0">
              <a:buFont typeface="Wingdings 3" charset="2"/>
              <a:buNone/>
            </a:pPr>
            <a:endParaRPr lang="de-DE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1B380121-04B9-AC10-9358-AB21A3A4B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775234"/>
              </p:ext>
            </p:extLst>
          </p:nvPr>
        </p:nvGraphicFramePr>
        <p:xfrm>
          <a:off x="7685244" y="1861633"/>
          <a:ext cx="3394236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776">
                  <a:extLst>
                    <a:ext uri="{9D8B030D-6E8A-4147-A177-3AD203B41FA5}">
                      <a16:colId xmlns:a16="http://schemas.microsoft.com/office/drawing/2014/main" val="3558753569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3417537825"/>
                    </a:ext>
                  </a:extLst>
                </a:gridCol>
              </a:tblGrid>
              <a:tr h="162076">
                <a:tc>
                  <a:txBody>
                    <a:bodyPr/>
                    <a:lstStyle/>
                    <a:p>
                      <a:r>
                        <a:rPr lang="de-DE" sz="1100" dirty="0"/>
                        <a:t>Schritt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/>
                        <a:t>Value*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122790"/>
                  </a:ext>
                </a:extLst>
              </a:tr>
              <a:tr h="162076">
                <a:tc>
                  <a:txBody>
                    <a:bodyPr/>
                    <a:lstStyle/>
                    <a:p>
                      <a:r>
                        <a:rPr lang="de-DE" sz="1100" dirty="0"/>
                        <a:t>Feature </a:t>
                      </a:r>
                      <a:r>
                        <a:rPr lang="de-DE" sz="1100" dirty="0" err="1"/>
                        <a:t>extraction</a:t>
                      </a:r>
                      <a:endParaRPr lang="de-DE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/>
                        <a:t>~0.05 </a:t>
                      </a:r>
                      <a:r>
                        <a:rPr lang="de-DE" sz="1100" dirty="0" err="1"/>
                        <a:t>ms</a:t>
                      </a:r>
                      <a:endParaRPr lang="de-DE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487451"/>
                  </a:ext>
                </a:extLst>
              </a:tr>
              <a:tr h="162076">
                <a:tc>
                  <a:txBody>
                    <a:bodyPr/>
                    <a:lstStyle/>
                    <a:p>
                      <a:r>
                        <a:rPr lang="de-DE" sz="1100" dirty="0"/>
                        <a:t>Linear </a:t>
                      </a:r>
                      <a:r>
                        <a:rPr lang="de-DE" sz="1100" dirty="0" err="1"/>
                        <a:t>inference</a:t>
                      </a:r>
                      <a:r>
                        <a:rPr lang="de-DE" sz="1100" dirty="0"/>
                        <a:t> (CPU)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/>
                        <a:t>~0.6 </a:t>
                      </a:r>
                      <a:r>
                        <a:rPr lang="de-DE" sz="1100" dirty="0" err="1"/>
                        <a:t>ms</a:t>
                      </a:r>
                      <a:r>
                        <a:rPr lang="de-DE" sz="1100" dirty="0"/>
                        <a:t> (</a:t>
                      </a:r>
                      <a:r>
                        <a:rPr lang="de-DE" sz="1100" dirty="0" err="1"/>
                        <a:t>mean</a:t>
                      </a:r>
                      <a:r>
                        <a:rPr lang="de-DE" sz="11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061245"/>
                  </a:ext>
                </a:extLst>
              </a:tr>
              <a:tr h="162076">
                <a:tc>
                  <a:txBody>
                    <a:bodyPr/>
                    <a:lstStyle/>
                    <a:p>
                      <a:r>
                        <a:rPr lang="de-DE" sz="1100" dirty="0" err="1"/>
                        <a:t>Full</a:t>
                      </a:r>
                      <a:r>
                        <a:rPr lang="de-DE" sz="1100" dirty="0"/>
                        <a:t> </a:t>
                      </a:r>
                      <a:r>
                        <a:rPr lang="de-DE" sz="1100" dirty="0" err="1"/>
                        <a:t>cycle</a:t>
                      </a:r>
                      <a:r>
                        <a:rPr lang="de-DE" sz="1100" dirty="0"/>
                        <a:t> (</a:t>
                      </a:r>
                      <a:r>
                        <a:rPr lang="de-DE" sz="1100" dirty="0" err="1"/>
                        <a:t>worst</a:t>
                      </a:r>
                      <a:r>
                        <a:rPr lang="de-DE" sz="1100" dirty="0"/>
                        <a:t> </a:t>
                      </a:r>
                      <a:r>
                        <a:rPr lang="de-DE" sz="1100" dirty="0" err="1"/>
                        <a:t>case</a:t>
                      </a:r>
                      <a:r>
                        <a:rPr lang="de-DE" sz="11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/>
                        <a:t>~2.1 </a:t>
                      </a:r>
                      <a:r>
                        <a:rPr lang="de-DE" sz="1100" dirty="0" err="1"/>
                        <a:t>ms</a:t>
                      </a:r>
                      <a:r>
                        <a:rPr lang="de-DE" sz="1100" dirty="0"/>
                        <a:t> (</a:t>
                      </a:r>
                      <a:r>
                        <a:rPr lang="de-DE" sz="1100" dirty="0" err="1"/>
                        <a:t>max</a:t>
                      </a:r>
                      <a:r>
                        <a:rPr lang="de-DE" sz="11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803414"/>
                  </a:ext>
                </a:extLst>
              </a:tr>
              <a:tr h="162076">
                <a:tc>
                  <a:txBody>
                    <a:bodyPr/>
                    <a:lstStyle/>
                    <a:p>
                      <a:r>
                        <a:rPr lang="de-DE" sz="1100" b="0" dirty="0"/>
                        <a:t>Total </a:t>
                      </a:r>
                      <a:r>
                        <a:rPr lang="de-DE" sz="1100" b="0" dirty="0" err="1"/>
                        <a:t>latency</a:t>
                      </a:r>
                      <a:endParaRPr lang="de-DE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100" dirty="0"/>
                        <a:t>~2.5 </a:t>
                      </a:r>
                      <a:r>
                        <a:rPr lang="de-DE" sz="1100" dirty="0" err="1"/>
                        <a:t>ms</a:t>
                      </a:r>
                      <a:r>
                        <a:rPr lang="de-DE" sz="1100" dirty="0"/>
                        <a:t>  (&lt; 10 </a:t>
                      </a:r>
                      <a:r>
                        <a:rPr lang="de-DE" sz="1100" dirty="0" err="1"/>
                        <a:t>ms</a:t>
                      </a:r>
                      <a:r>
                        <a:rPr lang="de-DE" sz="11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550575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34570060-FC20-D7D7-BDC3-0D37CAA50C9C}"/>
              </a:ext>
            </a:extLst>
          </p:cNvPr>
          <p:cNvSpPr txBox="1"/>
          <p:nvPr/>
        </p:nvSpPr>
        <p:spPr>
          <a:xfrm>
            <a:off x="7137400" y="3157033"/>
            <a:ext cx="47738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estimated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for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Raspberry Pi 5 (ARM Cortex-A76)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using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conservative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5x 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scaling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from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x86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validation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measurements</a:t>
            </a:r>
            <a:endParaRPr lang="de-DE" sz="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93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46901-5C56-1812-14E2-1B37A53F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1">
            <a:extLst>
              <a:ext uri="{FF2B5EF4-FFF2-40B4-BE49-F238E27FC236}">
                <a16:creationId xmlns:a16="http://schemas.microsoft.com/office/drawing/2014/main" id="{F524EB69-6ED4-9E35-959E-FCF4B8D4F6D4}"/>
              </a:ext>
            </a:extLst>
          </p:cNvPr>
          <p:cNvSpPr txBox="1">
            <a:spLocks/>
          </p:cNvSpPr>
          <p:nvPr/>
        </p:nvSpPr>
        <p:spPr>
          <a:xfrm>
            <a:off x="339420" y="300886"/>
            <a:ext cx="6398264" cy="38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dirty="0">
                <a:solidFill>
                  <a:srgbClr val="335B74"/>
                </a:solidFill>
                <a:latin typeface="Bosch Office Sans" pitchFamily="2" charset="0"/>
              </a:rPr>
              <a:t>Hardware </a:t>
            </a:r>
            <a:r>
              <a:rPr lang="de-DE" sz="2400" dirty="0" err="1">
                <a:solidFill>
                  <a:srgbClr val="335B74"/>
                </a:solidFill>
                <a:latin typeface="Bosch Office Sans" pitchFamily="2" charset="0"/>
              </a:rPr>
              <a:t>Awarness</a:t>
            </a:r>
            <a:r>
              <a:rPr lang="de-DE" sz="2400" dirty="0">
                <a:solidFill>
                  <a:srgbClr val="335B74"/>
                </a:solidFill>
                <a:latin typeface="Bosch Office Sans" pitchFamily="2" charset="0"/>
              </a:rPr>
              <a:t> (</a:t>
            </a:r>
            <a:r>
              <a:rPr lang="de-DE" sz="2400" dirty="0" err="1">
                <a:solidFill>
                  <a:srgbClr val="335B74"/>
                </a:solidFill>
                <a:latin typeface="Bosch Office Sans" pitchFamily="2" charset="0"/>
              </a:rPr>
              <a:t>current</a:t>
            </a:r>
            <a:r>
              <a:rPr lang="de-DE" sz="2400" dirty="0">
                <a:solidFill>
                  <a:srgbClr val="335B74"/>
                </a:solidFill>
                <a:latin typeface="Bosch Office Sans" pitchFamily="2" charset="0"/>
              </a:rPr>
              <a:t> </a:t>
            </a:r>
            <a:r>
              <a:rPr lang="de-DE" sz="2400" dirty="0" err="1">
                <a:solidFill>
                  <a:srgbClr val="335B74"/>
                </a:solidFill>
                <a:latin typeface="Bosch Office Sans" pitchFamily="2" charset="0"/>
              </a:rPr>
              <a:t>implementation</a:t>
            </a:r>
            <a:r>
              <a:rPr lang="de-DE" sz="2400" dirty="0">
                <a:solidFill>
                  <a:srgbClr val="335B74"/>
                </a:solidFill>
                <a:latin typeface="Bosch Office Sans" pitchFamily="2" charset="0"/>
              </a:rPr>
              <a:t>)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712E9D7-6170-E9C7-BB3D-1BBB74176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485" y="1092198"/>
            <a:ext cx="5425768" cy="39450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b="1" dirty="0" err="1"/>
              <a:t>Compute</a:t>
            </a:r>
            <a:r>
              <a:rPr lang="de-DE" sz="1600" b="1" dirty="0"/>
              <a:t> </a:t>
            </a:r>
            <a:r>
              <a:rPr lang="de-DE" sz="1600" b="1" dirty="0" err="1"/>
              <a:t>Platform</a:t>
            </a:r>
            <a:endParaRPr lang="de-DE" sz="1600" b="1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/>
              <a:t>X86 </a:t>
            </a:r>
            <a:r>
              <a:rPr lang="de-DE" sz="1200" dirty="0" err="1"/>
              <a:t>validation</a:t>
            </a:r>
            <a:r>
              <a:rPr lang="de-DE" sz="1200" dirty="0"/>
              <a:t> </a:t>
            </a:r>
            <a:r>
              <a:rPr lang="de-DE" sz="1200" dirty="0" err="1"/>
              <a:t>baseline</a:t>
            </a:r>
            <a:r>
              <a:rPr lang="de-DE" sz="1200" dirty="0"/>
              <a:t> (</a:t>
            </a:r>
            <a:r>
              <a:rPr lang="de-DE" sz="1200" dirty="0" err="1"/>
              <a:t>development</a:t>
            </a:r>
            <a:r>
              <a:rPr lang="de-DE" sz="1200" dirty="0"/>
              <a:t> </a:t>
            </a:r>
            <a:r>
              <a:rPr lang="de-DE" sz="1200" dirty="0" err="1"/>
              <a:t>platform</a:t>
            </a:r>
            <a:r>
              <a:rPr lang="de-DE" sz="1200" dirty="0"/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 err="1"/>
              <a:t>Raspbery</a:t>
            </a:r>
            <a:r>
              <a:rPr lang="de-DE" sz="1200" dirty="0"/>
              <a:t> Pi 5 (ARM Cortex-A76)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/>
              <a:t>Linux-</a:t>
            </a:r>
            <a:r>
              <a:rPr lang="de-DE" sz="1200" dirty="0" err="1"/>
              <a:t>based</a:t>
            </a:r>
            <a:r>
              <a:rPr lang="de-DE" sz="1200" dirty="0"/>
              <a:t> </a:t>
            </a:r>
            <a:r>
              <a:rPr lang="de-DE" sz="1200" dirty="0" err="1"/>
              <a:t>embedded</a:t>
            </a:r>
            <a:r>
              <a:rPr lang="de-DE" sz="1200" dirty="0"/>
              <a:t> </a:t>
            </a:r>
            <a:r>
              <a:rPr lang="de-DE" sz="1200" dirty="0" err="1"/>
              <a:t>environment</a:t>
            </a:r>
            <a:endParaRPr lang="de-DE" sz="1200" dirty="0"/>
          </a:p>
          <a:p>
            <a:pPr lvl="1">
              <a:buFont typeface="Wingdings" panose="05000000000000000000" pitchFamily="2" charset="2"/>
              <a:buChar char="§"/>
            </a:pPr>
            <a:endParaRPr lang="de-DE" sz="1200" dirty="0"/>
          </a:p>
          <a:p>
            <a:pPr marL="457200" lvl="1" indent="0">
              <a:buNone/>
            </a:pPr>
            <a:endParaRPr lang="de-DE" sz="1200" dirty="0"/>
          </a:p>
          <a:p>
            <a:pPr marL="0" indent="0">
              <a:buNone/>
            </a:pPr>
            <a:r>
              <a:rPr lang="de-DE" sz="1600" b="1" dirty="0"/>
              <a:t>Model  Design &amp; </a:t>
            </a:r>
            <a:r>
              <a:rPr lang="de-DE" sz="1600" b="1" dirty="0" err="1"/>
              <a:t>Optimization</a:t>
            </a:r>
            <a:r>
              <a:rPr lang="de-DE" sz="1600" b="1" dirty="0"/>
              <a:t> 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de-DE" sz="1200" dirty="0" err="1">
                <a:solidFill>
                  <a:schemeClr val="bg1">
                    <a:lumMod val="65000"/>
                  </a:schemeClr>
                </a:solidFill>
              </a:rPr>
              <a:t>current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1200" dirty="0" err="1">
                <a:solidFill>
                  <a:schemeClr val="bg1">
                    <a:lumMod val="65000"/>
                  </a:schemeClr>
                </a:solidFill>
              </a:rPr>
              <a:t>implementation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/>
              <a:t>Linear Ridge </a:t>
            </a:r>
            <a:r>
              <a:rPr lang="de-DE" sz="1200" dirty="0" err="1"/>
              <a:t>regression</a:t>
            </a:r>
            <a:r>
              <a:rPr lang="de-DE" sz="1200" dirty="0"/>
              <a:t> </a:t>
            </a:r>
            <a:r>
              <a:rPr lang="de-DE" sz="1200" dirty="0" err="1"/>
              <a:t>baseline</a:t>
            </a:r>
            <a:endParaRPr lang="de-DE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 err="1"/>
              <a:t>Closed-forn</a:t>
            </a:r>
            <a:r>
              <a:rPr lang="de-DE" sz="1200" dirty="0"/>
              <a:t> </a:t>
            </a:r>
            <a:r>
              <a:rPr lang="de-DE" sz="1200" dirty="0" err="1"/>
              <a:t>inference</a:t>
            </a:r>
            <a:r>
              <a:rPr lang="de-DE" sz="1200" dirty="0"/>
              <a:t> (O(n))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 err="1"/>
              <a:t>Regularization</a:t>
            </a:r>
            <a:r>
              <a:rPr lang="de-DE" sz="1200" dirty="0"/>
              <a:t> </a:t>
            </a:r>
            <a:r>
              <a:rPr lang="de-DE" sz="1200" dirty="0" err="1"/>
              <a:t>parameter</a:t>
            </a:r>
            <a:r>
              <a:rPr lang="de-DE" sz="1200" dirty="0"/>
              <a:t> </a:t>
            </a:r>
            <a:r>
              <a:rPr lang="de-DE" sz="1200" dirty="0" err="1"/>
              <a:t>tuning</a:t>
            </a:r>
            <a:r>
              <a:rPr lang="de-DE" sz="1200" dirty="0"/>
              <a:t> (a=1.0)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/>
              <a:t>LORO-CV (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Cross-validation </a:t>
            </a:r>
            <a:r>
              <a:rPr lang="de-DE" sz="1200" kern="0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Leave</a:t>
            </a:r>
            <a:r>
              <a:rPr lang="de-DE" sz="1200" kern="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-</a:t>
            </a:r>
            <a:r>
              <a:rPr lang="de-DE" sz="1200" kern="0" dirty="0" err="1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One</a:t>
            </a:r>
            <a:r>
              <a:rPr lang="de-DE" sz="1200" kern="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-Run-Out</a:t>
            </a:r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/>
              <a:t>Validation </a:t>
            </a:r>
            <a:r>
              <a:rPr lang="de-DE" sz="1200" dirty="0" err="1"/>
              <a:t>under</a:t>
            </a:r>
            <a:r>
              <a:rPr lang="de-DE" sz="1200" dirty="0"/>
              <a:t> </a:t>
            </a:r>
            <a:r>
              <a:rPr lang="de-DE" sz="1200" dirty="0" err="1"/>
              <a:t>deterministic</a:t>
            </a:r>
            <a:r>
              <a:rPr lang="de-DE" sz="1200" dirty="0"/>
              <a:t> </a:t>
            </a:r>
            <a:r>
              <a:rPr lang="de-DE" sz="1200" dirty="0" err="1"/>
              <a:t>cycle</a:t>
            </a:r>
            <a:r>
              <a:rPr lang="de-DE" sz="1200" dirty="0"/>
              <a:t> </a:t>
            </a:r>
            <a:r>
              <a:rPr lang="de-DE" sz="1200" dirty="0" err="1"/>
              <a:t>constraints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BFB9E5F5-743A-2306-1353-98F6B050A8A8}"/>
              </a:ext>
            </a:extLst>
          </p:cNvPr>
          <p:cNvSpPr txBox="1">
            <a:spLocks/>
          </p:cNvSpPr>
          <p:nvPr/>
        </p:nvSpPr>
        <p:spPr>
          <a:xfrm>
            <a:off x="7228946" y="1092200"/>
            <a:ext cx="4882843" cy="3945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DE" sz="1600" b="1" dirty="0"/>
              <a:t>Ressource </a:t>
            </a:r>
            <a:r>
              <a:rPr lang="de-DE" sz="1600" b="1" dirty="0" err="1"/>
              <a:t>Metrics</a:t>
            </a:r>
            <a:endParaRPr lang="de-DE" sz="1600" b="1" dirty="0"/>
          </a:p>
          <a:p>
            <a:pPr marL="457200" lvl="1" indent="0">
              <a:buNone/>
            </a:pPr>
            <a:endParaRPr lang="de-DE" sz="1200" dirty="0"/>
          </a:p>
          <a:p>
            <a:pPr lvl="1">
              <a:buFont typeface="Wingdings" panose="05000000000000000000" pitchFamily="2" charset="2"/>
              <a:buChar char="§"/>
            </a:pPr>
            <a:endParaRPr lang="de-DE" sz="1200" dirty="0"/>
          </a:p>
          <a:p>
            <a:pPr lvl="1">
              <a:buFont typeface="Wingdings" panose="05000000000000000000" pitchFamily="2" charset="2"/>
              <a:buChar char="§"/>
            </a:pPr>
            <a:endParaRPr lang="de-DE" sz="1200" dirty="0"/>
          </a:p>
          <a:p>
            <a:pPr lvl="1">
              <a:buFont typeface="Wingdings" panose="05000000000000000000" pitchFamily="2" charset="2"/>
              <a:buChar char="§"/>
            </a:pPr>
            <a:endParaRPr lang="de-DE" sz="1200" dirty="0"/>
          </a:p>
          <a:p>
            <a:pPr marL="457200" lvl="1" indent="0">
              <a:buNone/>
            </a:pPr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*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estimated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for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Raspberry Pi 5 (ARM Cortex-A76)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using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conservative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5x 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scaling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from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x86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validation</a:t>
            </a:r>
            <a:r>
              <a:rPr lang="de-DE" sz="8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800" i="1" dirty="0" err="1">
                <a:solidFill>
                  <a:schemeClr val="bg1">
                    <a:lumMod val="65000"/>
                  </a:schemeClr>
                </a:solidFill>
              </a:rPr>
              <a:t>measurements</a:t>
            </a:r>
            <a:endParaRPr lang="de-DE" sz="8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Font typeface="Wingdings 3" charset="2"/>
              <a:buNone/>
            </a:pPr>
            <a:endParaRPr lang="de-DE" sz="1600" b="1" dirty="0"/>
          </a:p>
          <a:p>
            <a:pPr marL="0" indent="0">
              <a:buFont typeface="Wingdings 3" charset="2"/>
              <a:buNone/>
            </a:pPr>
            <a:r>
              <a:rPr lang="de-DE" sz="1600" b="1" dirty="0"/>
              <a:t>Design Trade-offs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 err="1"/>
              <a:t>Acuuracy</a:t>
            </a:r>
            <a:r>
              <a:rPr lang="de-DE" sz="1200" dirty="0"/>
              <a:t> </a:t>
            </a:r>
            <a:r>
              <a:rPr lang="de-DE" sz="1200" dirty="0" err="1"/>
              <a:t>vs</a:t>
            </a:r>
            <a:r>
              <a:rPr lang="de-DE" sz="1200" dirty="0"/>
              <a:t> </a:t>
            </a:r>
            <a:r>
              <a:rPr lang="de-DE" sz="1200" dirty="0" err="1"/>
              <a:t>latency</a:t>
            </a:r>
            <a:endParaRPr lang="de-DE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/>
              <a:t>Model </a:t>
            </a:r>
            <a:r>
              <a:rPr lang="de-DE" sz="1200" dirty="0" err="1"/>
              <a:t>simplicity</a:t>
            </a:r>
            <a:r>
              <a:rPr lang="de-DE" sz="1200" dirty="0"/>
              <a:t> </a:t>
            </a:r>
            <a:r>
              <a:rPr lang="de-DE" sz="1200" dirty="0" err="1"/>
              <a:t>vs</a:t>
            </a:r>
            <a:r>
              <a:rPr lang="de-DE" sz="1200" dirty="0"/>
              <a:t> </a:t>
            </a:r>
            <a:r>
              <a:rPr lang="de-DE" sz="1200" dirty="0" err="1"/>
              <a:t>interpretability</a:t>
            </a:r>
            <a:endParaRPr lang="de-DE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 err="1"/>
              <a:t>Determinism</a:t>
            </a:r>
            <a:r>
              <a:rPr lang="de-DE" sz="1200" dirty="0"/>
              <a:t> </a:t>
            </a:r>
            <a:r>
              <a:rPr lang="de-DE" sz="1200" dirty="0" err="1"/>
              <a:t>vs</a:t>
            </a:r>
            <a:r>
              <a:rPr lang="de-DE" sz="1200" dirty="0"/>
              <a:t> adaptive </a:t>
            </a:r>
            <a:r>
              <a:rPr lang="de-DE" sz="1200" dirty="0" err="1"/>
              <a:t>scheduling</a:t>
            </a:r>
            <a:endParaRPr lang="de-DE" dirty="0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54C3217C-145D-1FEF-0D1E-6A33CEA64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408343"/>
              </p:ext>
            </p:extLst>
          </p:nvPr>
        </p:nvGraphicFramePr>
        <p:xfrm>
          <a:off x="7764645" y="1468120"/>
          <a:ext cx="3027947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627">
                  <a:extLst>
                    <a:ext uri="{9D8B030D-6E8A-4147-A177-3AD203B41FA5}">
                      <a16:colId xmlns:a16="http://schemas.microsoft.com/office/drawing/2014/main" val="3558753569"/>
                    </a:ext>
                  </a:extLst>
                </a:gridCol>
                <a:gridCol w="757320">
                  <a:extLst>
                    <a:ext uri="{9D8B030D-6E8A-4147-A177-3AD203B41FA5}">
                      <a16:colId xmlns:a16="http://schemas.microsoft.com/office/drawing/2014/main" val="3417537825"/>
                    </a:ext>
                  </a:extLst>
                </a:gridCol>
              </a:tblGrid>
              <a:tr h="162076">
                <a:tc>
                  <a:txBody>
                    <a:bodyPr/>
                    <a:lstStyle/>
                    <a:p>
                      <a:r>
                        <a:rPr lang="de-DE" sz="1100" baseline="0" dirty="0" err="1"/>
                        <a:t>Metric</a:t>
                      </a:r>
                      <a:r>
                        <a:rPr lang="de-DE" sz="1100" baseline="0" dirty="0"/>
                        <a:t>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100" baseline="0" dirty="0"/>
                        <a:t> Value*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122790"/>
                  </a:ext>
                </a:extLst>
              </a:tr>
              <a:tr h="162076">
                <a:tc>
                  <a:txBody>
                    <a:bodyPr/>
                    <a:lstStyle/>
                    <a:p>
                      <a:r>
                        <a:rPr lang="de-DE" sz="1000" dirty="0"/>
                        <a:t>Mean </a:t>
                      </a:r>
                      <a:r>
                        <a:rPr lang="de-DE" sz="1000" dirty="0" err="1"/>
                        <a:t>interference</a:t>
                      </a:r>
                      <a:r>
                        <a:rPr lang="de-DE" sz="1000" dirty="0"/>
                        <a:t>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/>
                        <a:t>~0.6 </a:t>
                      </a:r>
                      <a:r>
                        <a:rPr lang="de-DE" sz="1000" dirty="0" err="1"/>
                        <a:t>ms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916239"/>
                  </a:ext>
                </a:extLst>
              </a:tr>
              <a:tr h="162076">
                <a:tc>
                  <a:txBody>
                    <a:bodyPr/>
                    <a:lstStyle/>
                    <a:p>
                      <a:r>
                        <a:rPr lang="de-DE" sz="1000" dirty="0" err="1"/>
                        <a:t>Worst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case</a:t>
                      </a:r>
                      <a:r>
                        <a:rPr lang="de-DE" sz="1000" dirty="0"/>
                        <a:t> </a:t>
                      </a:r>
                      <a:r>
                        <a:rPr lang="de-DE" sz="1000" dirty="0" err="1"/>
                        <a:t>latency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/>
                        <a:t>~2.1 </a:t>
                      </a:r>
                      <a:r>
                        <a:rPr lang="de-DE" sz="1000" dirty="0" err="1"/>
                        <a:t>ms</a:t>
                      </a:r>
                      <a:endParaRPr lang="de-D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487451"/>
                  </a:ext>
                </a:extLst>
              </a:tr>
              <a:tr h="162076">
                <a:tc>
                  <a:txBody>
                    <a:bodyPr/>
                    <a:lstStyle/>
                    <a:p>
                      <a:r>
                        <a:rPr lang="de-DE" sz="1000" dirty="0"/>
                        <a:t>Model </a:t>
                      </a:r>
                      <a:r>
                        <a:rPr lang="de-DE" sz="1000" dirty="0" err="1"/>
                        <a:t>size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/>
                        <a:t>1.33 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061245"/>
                  </a:ext>
                </a:extLst>
              </a:tr>
              <a:tr h="16207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RAM </a:t>
                      </a:r>
                      <a:r>
                        <a:rPr lang="de-DE" sz="1000" dirty="0" err="1"/>
                        <a:t>footprint</a:t>
                      </a:r>
                      <a:endParaRPr lang="de-D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/>
                        <a:t>~130MB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701563"/>
                  </a:ext>
                </a:extLst>
              </a:tr>
            </a:tbl>
          </a:graphicData>
        </a:graphic>
      </p:graphicFrame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F543ECB6-CB4D-4FF9-AB1E-779B17FFD7A9}"/>
              </a:ext>
            </a:extLst>
          </p:cNvPr>
          <p:cNvSpPr txBox="1">
            <a:spLocks/>
          </p:cNvSpPr>
          <p:nvPr/>
        </p:nvSpPr>
        <p:spPr>
          <a:xfrm>
            <a:off x="4727365" y="5177168"/>
            <a:ext cx="5115455" cy="1405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DE" sz="1600" b="1" dirty="0"/>
              <a:t>Energy </a:t>
            </a:r>
            <a:r>
              <a:rPr lang="de-DE" sz="1600" b="1" dirty="0" err="1"/>
              <a:t>consideration</a:t>
            </a:r>
            <a:endParaRPr lang="de-DE" sz="1600" b="1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/>
              <a:t>Thermal </a:t>
            </a:r>
            <a:r>
              <a:rPr lang="de-DE" sz="1200" dirty="0" err="1"/>
              <a:t>monitoring</a:t>
            </a:r>
            <a:r>
              <a:rPr lang="de-DE" sz="1200" dirty="0"/>
              <a:t> </a:t>
            </a:r>
            <a:r>
              <a:rPr lang="de-DE" sz="1200" dirty="0" err="1"/>
              <a:t>under</a:t>
            </a:r>
            <a:r>
              <a:rPr lang="de-DE" sz="1200" dirty="0"/>
              <a:t> </a:t>
            </a:r>
            <a:r>
              <a:rPr lang="de-DE" sz="1200" dirty="0" err="1"/>
              <a:t>sustained</a:t>
            </a:r>
            <a:r>
              <a:rPr lang="de-DE" sz="1200" dirty="0"/>
              <a:t> </a:t>
            </a:r>
            <a:r>
              <a:rPr lang="de-DE" sz="1200" dirty="0" err="1"/>
              <a:t>load</a:t>
            </a:r>
            <a:endParaRPr lang="de-DE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/>
              <a:t>CPU Load </a:t>
            </a:r>
            <a:r>
              <a:rPr lang="de-DE" sz="1200" dirty="0" err="1"/>
              <a:t>impact</a:t>
            </a:r>
            <a:r>
              <a:rPr lang="de-DE" sz="1200" dirty="0"/>
              <a:t> </a:t>
            </a:r>
            <a:r>
              <a:rPr lang="de-DE" sz="1200" dirty="0" err="1"/>
              <a:t>analysis</a:t>
            </a:r>
            <a:endParaRPr lang="de-DE" sz="12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1200" dirty="0" err="1"/>
              <a:t>Scalability</a:t>
            </a:r>
            <a:r>
              <a:rPr lang="de-DE" sz="1200" dirty="0"/>
              <a:t> </a:t>
            </a:r>
            <a:r>
              <a:rPr lang="de-DE" sz="1200" dirty="0" err="1"/>
              <a:t>toward</a:t>
            </a:r>
            <a:r>
              <a:rPr lang="de-DE" sz="1200" dirty="0"/>
              <a:t> </a:t>
            </a:r>
            <a:r>
              <a:rPr lang="de-DE" sz="1200" dirty="0" err="1"/>
              <a:t>automotive</a:t>
            </a:r>
            <a:r>
              <a:rPr lang="de-DE" sz="1200" dirty="0"/>
              <a:t> </a:t>
            </a:r>
            <a:r>
              <a:rPr lang="de-DE" sz="1200" dirty="0" err="1"/>
              <a:t>SoC</a:t>
            </a:r>
            <a:endParaRPr lang="de-DE" sz="1200" dirty="0"/>
          </a:p>
          <a:p>
            <a:pPr lvl="1">
              <a:buFont typeface="Wingdings" panose="05000000000000000000" pitchFamily="2" charset="2"/>
              <a:buChar char="§"/>
            </a:pPr>
            <a:endParaRPr lang="de-DE" sz="1200" dirty="0"/>
          </a:p>
          <a:p>
            <a:pPr marL="0" indent="0">
              <a:buFont typeface="Wingdings 3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1635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1">
            <a:extLst>
              <a:ext uri="{FF2B5EF4-FFF2-40B4-BE49-F238E27FC236}">
                <a16:creationId xmlns:a16="http://schemas.microsoft.com/office/drawing/2014/main" id="{42D9335B-DDD8-941B-2848-057F3E5E9141}"/>
              </a:ext>
            </a:extLst>
          </p:cNvPr>
          <p:cNvSpPr txBox="1">
            <a:spLocks/>
          </p:cNvSpPr>
          <p:nvPr/>
        </p:nvSpPr>
        <p:spPr>
          <a:xfrm>
            <a:off x="339420" y="300886"/>
            <a:ext cx="11204880" cy="38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400" dirty="0">
                <a:solidFill>
                  <a:srgbClr val="335B74"/>
                </a:solidFill>
                <a:latin typeface="Bosch Office Sans" pitchFamily="2" charset="0"/>
              </a:rPr>
              <a:t>Key </a:t>
            </a:r>
            <a:r>
              <a:rPr lang="de-DE" sz="2400" dirty="0" err="1">
                <a:solidFill>
                  <a:srgbClr val="335B74"/>
                </a:solidFill>
                <a:latin typeface="Bosch Office Sans" pitchFamily="2" charset="0"/>
              </a:rPr>
              <a:t>Architectural</a:t>
            </a:r>
            <a:r>
              <a:rPr lang="de-DE" sz="2400" dirty="0">
                <a:solidFill>
                  <a:srgbClr val="335B74"/>
                </a:solidFill>
                <a:latin typeface="Bosch Office Sans" pitchFamily="2" charset="0"/>
              </a:rPr>
              <a:t> </a:t>
            </a:r>
            <a:r>
              <a:rPr lang="de-DE" sz="2400" dirty="0" err="1">
                <a:solidFill>
                  <a:srgbClr val="335B74"/>
                </a:solidFill>
                <a:latin typeface="Bosch Office Sans" pitchFamily="2" charset="0"/>
              </a:rPr>
              <a:t>Contributions</a:t>
            </a:r>
            <a:endParaRPr lang="de-DE" sz="2400" dirty="0">
              <a:solidFill>
                <a:srgbClr val="335B74"/>
              </a:solidFill>
              <a:latin typeface="Bosch Office Sans" pitchFamily="2" charset="0"/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838A8A9-A083-176C-CA74-A1C228F48472}"/>
              </a:ext>
            </a:extLst>
          </p:cNvPr>
          <p:cNvSpPr txBox="1">
            <a:spLocks/>
          </p:cNvSpPr>
          <p:nvPr/>
        </p:nvSpPr>
        <p:spPr>
          <a:xfrm>
            <a:off x="1596025" y="1469312"/>
            <a:ext cx="5336435" cy="140546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DE" sz="1600" b="1" dirty="0" err="1"/>
              <a:t>Deterministic</a:t>
            </a:r>
            <a:r>
              <a:rPr lang="de-DE" sz="1600" b="1" dirty="0"/>
              <a:t> Edge AI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300" dirty="0"/>
              <a:t>100 Hz </a:t>
            </a:r>
            <a:r>
              <a:rPr lang="de-DE" sz="1300" dirty="0" err="1"/>
              <a:t>fixed</a:t>
            </a:r>
            <a:r>
              <a:rPr lang="de-DE" sz="1300" dirty="0"/>
              <a:t> </a:t>
            </a:r>
            <a:r>
              <a:rPr lang="de-DE" sz="1300" dirty="0" err="1"/>
              <a:t>control</a:t>
            </a:r>
            <a:r>
              <a:rPr lang="de-DE" sz="1300" dirty="0"/>
              <a:t> loop </a:t>
            </a:r>
            <a:r>
              <a:rPr lang="de-DE" sz="1300" dirty="0" err="1"/>
              <a:t>with</a:t>
            </a:r>
            <a:r>
              <a:rPr lang="de-DE" sz="1300" dirty="0"/>
              <a:t> </a:t>
            </a:r>
            <a:r>
              <a:rPr lang="de-DE" sz="1300" dirty="0" err="1"/>
              <a:t>bounded</a:t>
            </a:r>
            <a:r>
              <a:rPr lang="de-DE" sz="1300" dirty="0"/>
              <a:t> </a:t>
            </a:r>
            <a:r>
              <a:rPr lang="de-DE" sz="1300" dirty="0" err="1"/>
              <a:t>worst-case</a:t>
            </a:r>
            <a:r>
              <a:rPr lang="de-DE" sz="1300" dirty="0"/>
              <a:t> </a:t>
            </a:r>
            <a:r>
              <a:rPr lang="de-DE" sz="1300" dirty="0" err="1"/>
              <a:t>latency</a:t>
            </a:r>
            <a:endParaRPr lang="de-DE" sz="13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1300" dirty="0" err="1"/>
              <a:t>closed</a:t>
            </a:r>
            <a:r>
              <a:rPr lang="de-DE" sz="1300" dirty="0"/>
              <a:t>-form linear </a:t>
            </a:r>
            <a:r>
              <a:rPr lang="de-DE" sz="1300" dirty="0" err="1"/>
              <a:t>inference</a:t>
            </a:r>
            <a:r>
              <a:rPr lang="de-DE" sz="1300" dirty="0"/>
              <a:t> (O(n)) </a:t>
            </a:r>
            <a:r>
              <a:rPr lang="de-DE" sz="1300" dirty="0" err="1"/>
              <a:t>without</a:t>
            </a:r>
            <a:r>
              <a:rPr lang="de-DE" sz="1300" dirty="0"/>
              <a:t> </a:t>
            </a:r>
            <a:r>
              <a:rPr lang="de-DE" sz="1300" dirty="0" err="1"/>
              <a:t>dynamic</a:t>
            </a:r>
            <a:r>
              <a:rPr lang="de-DE" sz="1300" dirty="0"/>
              <a:t> </a:t>
            </a:r>
            <a:r>
              <a:rPr lang="de-DE" sz="1300" dirty="0" err="1"/>
              <a:t>graph</a:t>
            </a:r>
            <a:r>
              <a:rPr lang="de-DE" sz="1300" dirty="0"/>
              <a:t> </a:t>
            </a:r>
            <a:r>
              <a:rPr lang="de-DE" sz="1300" dirty="0" err="1"/>
              <a:t>execution</a:t>
            </a:r>
            <a:endParaRPr lang="de-DE" sz="13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1300" dirty="0" err="1"/>
              <a:t>pre-allocated</a:t>
            </a:r>
            <a:r>
              <a:rPr lang="de-DE" sz="1300" dirty="0"/>
              <a:t> </a:t>
            </a:r>
            <a:r>
              <a:rPr lang="de-DE" sz="1300" dirty="0" err="1"/>
              <a:t>memory</a:t>
            </a:r>
            <a:r>
              <a:rPr lang="de-DE" sz="1300" dirty="0"/>
              <a:t> and ring-</a:t>
            </a:r>
            <a:r>
              <a:rPr lang="de-DE" sz="1300" dirty="0" err="1"/>
              <a:t>buffer</a:t>
            </a:r>
            <a:r>
              <a:rPr lang="de-DE" sz="1300" dirty="0"/>
              <a:t> </a:t>
            </a:r>
            <a:r>
              <a:rPr lang="de-DE" sz="1300" dirty="0" err="1"/>
              <a:t>based</a:t>
            </a:r>
            <a:r>
              <a:rPr lang="de-DE" sz="1300" dirty="0"/>
              <a:t> </a:t>
            </a:r>
            <a:r>
              <a:rPr lang="de-DE" sz="1300" dirty="0" err="1"/>
              <a:t>data</a:t>
            </a:r>
            <a:r>
              <a:rPr lang="de-DE" sz="1300" dirty="0"/>
              <a:t> </a:t>
            </a:r>
            <a:r>
              <a:rPr lang="de-DE" sz="1300" dirty="0" err="1"/>
              <a:t>handling</a:t>
            </a:r>
            <a:endParaRPr lang="de-DE" sz="13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1300" dirty="0" err="1"/>
              <a:t>deterministic</a:t>
            </a:r>
            <a:r>
              <a:rPr lang="de-DE" sz="1300" dirty="0"/>
              <a:t> multi-sensor </a:t>
            </a:r>
            <a:r>
              <a:rPr lang="de-DE" sz="1300" dirty="0" err="1"/>
              <a:t>synchronization</a:t>
            </a:r>
            <a:endParaRPr lang="de-DE" sz="1300" dirty="0"/>
          </a:p>
          <a:p>
            <a:pPr marL="0" indent="0">
              <a:buFont typeface="Wingdings 3" charset="2"/>
              <a:buNone/>
            </a:pPr>
            <a:endParaRPr lang="de-DE" sz="1200" dirty="0"/>
          </a:p>
          <a:p>
            <a:pPr marL="914400" lvl="2" indent="0">
              <a:buNone/>
            </a:pPr>
            <a:endParaRPr lang="de-DE" sz="1200" dirty="0"/>
          </a:p>
          <a:p>
            <a:pPr lvl="1" algn="ctr">
              <a:buFont typeface="Wingdings" panose="05000000000000000000" pitchFamily="2" charset="2"/>
              <a:buChar char="§"/>
            </a:pPr>
            <a:endParaRPr lang="de-DE" sz="1200" dirty="0"/>
          </a:p>
          <a:p>
            <a:pPr marL="0" indent="0" algn="ctr">
              <a:buFont typeface="Wingdings 3" charset="2"/>
              <a:buNone/>
            </a:pPr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9BB721EC-DB16-3F28-4D21-B690A0288DF1}"/>
              </a:ext>
            </a:extLst>
          </p:cNvPr>
          <p:cNvSpPr txBox="1">
            <a:spLocks/>
          </p:cNvSpPr>
          <p:nvPr/>
        </p:nvSpPr>
        <p:spPr>
          <a:xfrm>
            <a:off x="4145281" y="3123696"/>
            <a:ext cx="4640579" cy="15626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DE" sz="1600" b="1" dirty="0"/>
              <a:t>Hardware Aware </a:t>
            </a:r>
            <a:r>
              <a:rPr lang="de-DE" sz="1600" b="1" dirty="0" err="1"/>
              <a:t>Deployment</a:t>
            </a:r>
            <a:r>
              <a:rPr lang="de-DE" sz="1600" b="1" dirty="0"/>
              <a:t> </a:t>
            </a:r>
            <a:r>
              <a:rPr lang="de-DE" sz="1600" b="1" dirty="0" err="1"/>
              <a:t>Strategy</a:t>
            </a:r>
            <a:endParaRPr lang="de-DE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1200" dirty="0" err="1"/>
              <a:t>cross</a:t>
            </a:r>
            <a:r>
              <a:rPr lang="de-DE" sz="1200" dirty="0"/>
              <a:t>- </a:t>
            </a:r>
            <a:r>
              <a:rPr lang="de-DE" sz="1200" dirty="0" err="1"/>
              <a:t>architecture</a:t>
            </a:r>
            <a:r>
              <a:rPr lang="de-DE" sz="1200" dirty="0"/>
              <a:t> </a:t>
            </a:r>
            <a:r>
              <a:rPr lang="de-DE" sz="1200" dirty="0" err="1"/>
              <a:t>validation</a:t>
            </a:r>
            <a:r>
              <a:rPr lang="de-DE" sz="1200" dirty="0"/>
              <a:t> (X86 </a:t>
            </a:r>
            <a:r>
              <a:rPr lang="de-DE" sz="1200" dirty="0">
                <a:sym typeface="Wingdings" panose="05000000000000000000" pitchFamily="2" charset="2"/>
              </a:rPr>
              <a:t> ARM Cortex A76)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200" dirty="0" err="1">
                <a:sym typeface="Wingdings" panose="05000000000000000000" pitchFamily="2" charset="2"/>
              </a:rPr>
              <a:t>quantified</a:t>
            </a:r>
            <a:r>
              <a:rPr lang="de-DE" sz="1200" dirty="0">
                <a:sym typeface="Wingdings" panose="05000000000000000000" pitchFamily="2" charset="2"/>
              </a:rPr>
              <a:t> </a:t>
            </a:r>
            <a:r>
              <a:rPr lang="de-DE" sz="1200" dirty="0" err="1">
                <a:sym typeface="Wingdings" panose="05000000000000000000" pitchFamily="2" charset="2"/>
              </a:rPr>
              <a:t>inference</a:t>
            </a:r>
            <a:r>
              <a:rPr lang="de-DE" sz="1200" dirty="0">
                <a:sym typeface="Wingdings" panose="05000000000000000000" pitchFamily="2" charset="2"/>
              </a:rPr>
              <a:t> </a:t>
            </a:r>
            <a:r>
              <a:rPr lang="de-DE" sz="1200" dirty="0" err="1">
                <a:sym typeface="Wingdings" panose="05000000000000000000" pitchFamily="2" charset="2"/>
              </a:rPr>
              <a:t>latency</a:t>
            </a:r>
            <a:r>
              <a:rPr lang="de-DE" sz="1200" dirty="0">
                <a:sym typeface="Wingdings" panose="05000000000000000000" pitchFamily="2" charset="2"/>
              </a:rPr>
              <a:t> (</a:t>
            </a:r>
            <a:r>
              <a:rPr lang="de-DE" sz="1200" dirty="0" err="1">
                <a:sym typeface="Wingdings" panose="05000000000000000000" pitchFamily="2" charset="2"/>
              </a:rPr>
              <a:t>mean</a:t>
            </a:r>
            <a:r>
              <a:rPr lang="de-DE" sz="1200" dirty="0">
                <a:sym typeface="Wingdings" panose="05000000000000000000" pitchFamily="2" charset="2"/>
              </a:rPr>
              <a:t> &amp; </a:t>
            </a:r>
            <a:r>
              <a:rPr lang="de-DE" sz="1200" dirty="0" err="1">
                <a:sym typeface="Wingdings" panose="05000000000000000000" pitchFamily="2" charset="2"/>
              </a:rPr>
              <a:t>worstcase</a:t>
            </a:r>
            <a:r>
              <a:rPr lang="de-DE" sz="1200" dirty="0">
                <a:sym typeface="Wingdings" panose="05000000000000000000" pitchFamily="2" charset="2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200" dirty="0">
                <a:sym typeface="Wingdings" panose="05000000000000000000" pitchFamily="2" charset="2"/>
              </a:rPr>
              <a:t>explicit </a:t>
            </a:r>
            <a:r>
              <a:rPr lang="de-DE" sz="1200" dirty="0" err="1">
                <a:sym typeface="Wingdings" panose="05000000000000000000" pitchFamily="2" charset="2"/>
              </a:rPr>
              <a:t>timing</a:t>
            </a:r>
            <a:r>
              <a:rPr lang="de-DE" sz="1200" dirty="0">
                <a:sym typeface="Wingdings" panose="05000000000000000000" pitchFamily="2" charset="2"/>
              </a:rPr>
              <a:t> </a:t>
            </a:r>
            <a:r>
              <a:rPr lang="de-DE" sz="1200" dirty="0" err="1">
                <a:sym typeface="Wingdings" panose="05000000000000000000" pitchFamily="2" charset="2"/>
              </a:rPr>
              <a:t>budget</a:t>
            </a:r>
            <a:r>
              <a:rPr lang="de-DE" sz="1200" dirty="0">
                <a:sym typeface="Wingdings" panose="05000000000000000000" pitchFamily="2" charset="2"/>
              </a:rPr>
              <a:t> </a:t>
            </a:r>
            <a:r>
              <a:rPr lang="de-DE" sz="1200" dirty="0" err="1">
                <a:sym typeface="Wingdings" panose="05000000000000000000" pitchFamily="2" charset="2"/>
              </a:rPr>
              <a:t>verification</a:t>
            </a:r>
            <a:r>
              <a:rPr lang="de-DE" sz="1200" dirty="0">
                <a:sym typeface="Wingdings" panose="05000000000000000000" pitchFamily="2" charset="2"/>
              </a:rPr>
              <a:t> (&lt;10 </a:t>
            </a:r>
            <a:r>
              <a:rPr lang="de-DE" sz="1200" dirty="0" err="1">
                <a:sym typeface="Wingdings" panose="05000000000000000000" pitchFamily="2" charset="2"/>
              </a:rPr>
              <a:t>ms</a:t>
            </a:r>
            <a:r>
              <a:rPr lang="de-DE" sz="1200" dirty="0">
                <a:sym typeface="Wingdings" panose="05000000000000000000" pitchFamily="2" charset="2"/>
              </a:rPr>
              <a:t> </a:t>
            </a:r>
            <a:r>
              <a:rPr lang="de-DE" sz="1200" dirty="0" err="1">
                <a:sym typeface="Wingdings" panose="05000000000000000000" pitchFamily="2" charset="2"/>
              </a:rPr>
              <a:t>constraint</a:t>
            </a:r>
            <a:r>
              <a:rPr lang="de-DE" sz="1200" dirty="0">
                <a:sym typeface="Wingdings" panose="05000000000000000000" pitchFamily="2" charset="2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200" dirty="0" err="1">
                <a:sym typeface="Wingdings" panose="05000000000000000000" pitchFamily="2" charset="2"/>
              </a:rPr>
              <a:t>ressource</a:t>
            </a:r>
            <a:r>
              <a:rPr lang="de-DE" sz="1200" dirty="0">
                <a:sym typeface="Wingdings" panose="05000000000000000000" pitchFamily="2" charset="2"/>
              </a:rPr>
              <a:t> </a:t>
            </a:r>
            <a:r>
              <a:rPr lang="de-DE" sz="1200" dirty="0" err="1">
                <a:sym typeface="Wingdings" panose="05000000000000000000" pitchFamily="2" charset="2"/>
              </a:rPr>
              <a:t>footprint</a:t>
            </a:r>
            <a:r>
              <a:rPr lang="de-DE" sz="1200" dirty="0">
                <a:sym typeface="Wingdings" panose="05000000000000000000" pitchFamily="2" charset="2"/>
              </a:rPr>
              <a:t> </a:t>
            </a:r>
            <a:r>
              <a:rPr lang="de-DE" sz="1200" dirty="0" err="1">
                <a:sym typeface="Wingdings" panose="05000000000000000000" pitchFamily="2" charset="2"/>
              </a:rPr>
              <a:t>analysis</a:t>
            </a:r>
            <a:r>
              <a:rPr lang="de-DE" sz="1200" dirty="0">
                <a:sym typeface="Wingdings" panose="05000000000000000000" pitchFamily="2" charset="2"/>
              </a:rPr>
              <a:t> (</a:t>
            </a:r>
            <a:r>
              <a:rPr lang="de-DE" sz="1200" dirty="0" err="1">
                <a:sym typeface="Wingdings" panose="05000000000000000000" pitchFamily="2" charset="2"/>
              </a:rPr>
              <a:t>model</a:t>
            </a:r>
            <a:r>
              <a:rPr lang="de-DE" sz="1200" dirty="0">
                <a:sym typeface="Wingdings" panose="05000000000000000000" pitchFamily="2" charset="2"/>
              </a:rPr>
              <a:t> </a:t>
            </a:r>
            <a:r>
              <a:rPr lang="de-DE" sz="1200" dirty="0" err="1">
                <a:sym typeface="Wingdings" panose="05000000000000000000" pitchFamily="2" charset="2"/>
              </a:rPr>
              <a:t>size</a:t>
            </a:r>
            <a:r>
              <a:rPr lang="de-DE" sz="1200" dirty="0">
                <a:sym typeface="Wingdings" panose="05000000000000000000" pitchFamily="2" charset="2"/>
              </a:rPr>
              <a:t>, RAM </a:t>
            </a:r>
            <a:r>
              <a:rPr lang="de-DE" sz="1200" dirty="0" err="1">
                <a:sym typeface="Wingdings" panose="05000000000000000000" pitchFamily="2" charset="2"/>
              </a:rPr>
              <a:t>usage</a:t>
            </a:r>
            <a:r>
              <a:rPr lang="de-DE" sz="1200" dirty="0">
                <a:sym typeface="Wingdings" panose="05000000000000000000" pitchFamily="2" charset="2"/>
              </a:rPr>
              <a:t>)</a:t>
            </a:r>
            <a:endParaRPr lang="de-DE" sz="1200" dirty="0"/>
          </a:p>
          <a:p>
            <a:pPr lvl="1" algn="ctr">
              <a:buFont typeface="Wingdings" panose="05000000000000000000" pitchFamily="2" charset="2"/>
              <a:buChar char="§"/>
            </a:pPr>
            <a:endParaRPr lang="de-DE" sz="1200" dirty="0"/>
          </a:p>
          <a:p>
            <a:pPr marL="0" indent="0" algn="ctr">
              <a:buFont typeface="Wingdings 3" charset="2"/>
              <a:buNone/>
            </a:pPr>
            <a:endParaRPr lang="de-DE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1B5AEBE-FA5A-68C2-8521-C12E3F79ED9E}"/>
              </a:ext>
            </a:extLst>
          </p:cNvPr>
          <p:cNvSpPr txBox="1">
            <a:spLocks/>
          </p:cNvSpPr>
          <p:nvPr/>
        </p:nvSpPr>
        <p:spPr>
          <a:xfrm>
            <a:off x="5288281" y="4935216"/>
            <a:ext cx="6804660" cy="1405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DE" sz="1600" b="1" dirty="0" err="1"/>
              <a:t>Scalability</a:t>
            </a:r>
            <a:r>
              <a:rPr lang="de-DE" sz="1600" b="1" dirty="0"/>
              <a:t> </a:t>
            </a:r>
            <a:r>
              <a:rPr lang="de-DE" sz="1600" b="1" dirty="0" err="1"/>
              <a:t>Perspective</a:t>
            </a:r>
            <a:endParaRPr lang="de-DE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1200" dirty="0"/>
              <a:t>Architecture transferable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automotive</a:t>
            </a:r>
            <a:r>
              <a:rPr lang="de-DE" sz="1200" dirty="0"/>
              <a:t>-grade </a:t>
            </a:r>
            <a:r>
              <a:rPr lang="de-DE" sz="1200" dirty="0" err="1"/>
              <a:t>SoCs</a:t>
            </a:r>
            <a:r>
              <a:rPr lang="de-DE" sz="1200" dirty="0"/>
              <a:t> (CPU/NPU </a:t>
            </a:r>
            <a:r>
              <a:rPr lang="de-DE" sz="1200" dirty="0" err="1"/>
              <a:t>based</a:t>
            </a:r>
            <a:r>
              <a:rPr lang="de-DE" sz="1200" dirty="0"/>
              <a:t> </a:t>
            </a:r>
            <a:r>
              <a:rPr lang="de-DE" sz="1200" dirty="0" err="1"/>
              <a:t>architecture</a:t>
            </a:r>
            <a:r>
              <a:rPr lang="de-DE" sz="12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200" dirty="0" err="1"/>
              <a:t>Accelerator-ready</a:t>
            </a:r>
            <a:r>
              <a:rPr lang="de-DE" sz="1200" dirty="0"/>
              <a:t> design (e.g. Coral TPU)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200" dirty="0"/>
              <a:t>Separation offline </a:t>
            </a:r>
            <a:r>
              <a:rPr lang="de-DE" sz="1200" dirty="0" err="1"/>
              <a:t>optimization</a:t>
            </a:r>
            <a:r>
              <a:rPr lang="de-DE" sz="1200" dirty="0"/>
              <a:t> and </a:t>
            </a:r>
            <a:r>
              <a:rPr lang="de-DE" sz="1200" dirty="0" err="1"/>
              <a:t>deterministic</a:t>
            </a:r>
            <a:r>
              <a:rPr lang="de-DE" sz="1200" dirty="0"/>
              <a:t> </a:t>
            </a:r>
            <a:r>
              <a:rPr lang="de-DE" sz="1200" dirty="0" err="1"/>
              <a:t>runtime</a:t>
            </a:r>
            <a:r>
              <a:rPr lang="de-DE" sz="1200" dirty="0"/>
              <a:t> </a:t>
            </a:r>
            <a:r>
              <a:rPr lang="de-DE" sz="1200" dirty="0" err="1"/>
              <a:t>execution</a:t>
            </a:r>
            <a:endParaRPr lang="de-DE" sz="1200" dirty="0"/>
          </a:p>
          <a:p>
            <a:pPr marL="0" indent="0">
              <a:buFont typeface="Wingdings 3" charset="2"/>
              <a:buNone/>
            </a:pPr>
            <a:endParaRPr lang="de-DE" sz="1200" dirty="0"/>
          </a:p>
          <a:p>
            <a:pPr marL="914400" lvl="2" indent="0">
              <a:buNone/>
            </a:pPr>
            <a:endParaRPr lang="de-DE" sz="1200" dirty="0"/>
          </a:p>
          <a:p>
            <a:pPr lvl="1" algn="ctr">
              <a:buFont typeface="Wingdings" panose="05000000000000000000" pitchFamily="2" charset="2"/>
              <a:buChar char="§"/>
            </a:pPr>
            <a:endParaRPr lang="de-DE" sz="1200" dirty="0"/>
          </a:p>
          <a:p>
            <a:pPr marL="0" indent="0" algn="ctr">
              <a:buFont typeface="Wingdings 3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1412734"/>
      </p:ext>
    </p:extLst>
  </p:cSld>
  <p:clrMapOvr>
    <a:masterClrMapping/>
  </p:clrMapOvr>
</p:sld>
</file>

<file path=ppt/theme/theme1.xml><?xml version="1.0" encoding="utf-8"?>
<a:theme xmlns:a="http://schemas.openxmlformats.org/drawingml/2006/main" name="Fetzen">
  <a:themeElements>
    <a:clrScheme name="Blau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etze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etze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701</Words>
  <Application>Microsoft Office PowerPoint</Application>
  <PresentationFormat>Breitbild</PresentationFormat>
  <Paragraphs>141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Arial</vt:lpstr>
      <vt:lpstr>Bosch Office Sans</vt:lpstr>
      <vt:lpstr>Calibri</vt:lpstr>
      <vt:lpstr>Century Gothic</vt:lpstr>
      <vt:lpstr>Wingdings</vt:lpstr>
      <vt:lpstr>Wingdings 3</vt:lpstr>
      <vt:lpstr>Fetzen</vt:lpstr>
      <vt:lpstr>Deterministic Edge ML Architecture for Real-Time Friction Estimation   (μ_used proxy based on multi-sensor vehicle data)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Mitrea Sorana (PS-SC/ESY2)</dc:creator>
  <cp:lastModifiedBy>Mitrea Sorana (PS-SC/ESY2)</cp:lastModifiedBy>
  <cp:revision>15</cp:revision>
  <dcterms:created xsi:type="dcterms:W3CDTF">2026-02-24T13:32:48Z</dcterms:created>
  <dcterms:modified xsi:type="dcterms:W3CDTF">2026-03-02T20:28:44Z</dcterms:modified>
</cp:coreProperties>
</file>